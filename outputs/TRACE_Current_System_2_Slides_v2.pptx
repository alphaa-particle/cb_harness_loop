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CURRENT BUILD — PRESENTED AS TRACE</a:t>
            </a:r>
          </a:p>
          <a:p>
            <a:r>
              <a:t>The user calls SYNALIGN TRACE in the presentation. In the current repository, Scheme Helper is the local multilingual assistant, and SYNALIGN is the test bench and change-evaluation framework around it. This slide presents them together as TRACE.</a:t>
            </a:r>
          </a:p>
          <a:p/>
          <a:p>
            <a:r>
              <a:t>Knowledge: 54 central scheme YAML records become 286 sections (overview, rules, benefits, applications, documents). Each section has provenance links to official sources. 34 records are verified; 20 need review. This is not a claim that all source facts were independently verified. Source: README.md, "The scheme data".</a:t>
            </a:r>
          </a:p>
          <a:p/>
          <a:p>
            <a:r>
              <a:t>Inference: Hindi/Hinglish glossary expansion applies to lexical searches. BM25, character TF-IDF and Qwen3-Embedding-0.6B rankings are merged using weighted reciprocal-rank fusion (weights .25, .25, 1.0; RRF k=20; depth=50). Semantic similarity below .50 returns no evidence and does not call the answer model. The maximum context is three sections, each selected scheme's eligibility rules first. Sources: synalign/domains/india_schemes/eval_config.yaml; synalign/engine/retriever.py.</a:t>
            </a:r>
          </a:p>
          <a:p/>
          <a:p>
            <a:r>
              <a:t>Model: Qwen3.5-0.8B-Q8_0.gguf writes a 2–4 sentence response in the question's language from supplied evidence. Embedding model: Qwen3-Embedding-0.6B-Q8_0.gguf. Both run locally in llama.cpp. Greedy decoding, fixed seed, thinking disabled, no prompt cache. Model file sizes reported in README: 834 MB and 639 MB. The measured 54-scheme full-pipeline answer time is 1.332 seconds per answer; ~1.3 seconds is a rounded experimental measurement on an Apple M5 (16 GB), not a service guarantee.</a:t>
            </a:r>
          </a:p>
          <a:p/>
          <a:p>
            <a:r>
              <a:t>Delivery: ResponseGuard detects listed forbidden promise phrases and replaces the response with source rules. The web UI shows evidence sections and official links. The API exposes search, context, ask and feedback; feedback stays local. The guard does not compute or verify eligibility and did not fire in the saved current tests. This differs from the earlier two-scheme rule-driven demonstration. Sources: README.md, synalign/engine/enforcement.py, synalign/README.md.</a:t>
            </a:r>
          </a:p>
          <a:p/>
          <a:p>
            <a:r>
              <a:t>Jansankhya: the retained file contains 10,000 synthetic informal-worker profiles, generated from IHDS-II-based CTGAN work. It remains usable as input to the earlier welfare_demo profile audit. It is not the source of the current 1,080-question evaluation. Its known coverage and wage-vintage limitations mean it must not be presented as a fully representative current population. Source: jansankhya/README.md.</a:t>
            </a:r>
          </a:p>
          <a:p/>
          <a:p>
            <a:r>
              <a:t>All paths above are relative to the supplied project /Users/vaibhav_joshi/Desktop/cb_harness_loop. This deck was authored from the current local implementation and saved reports; no new inference or training was performed.</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EARLIER MODEL PERFORMANCE AND TRACE IMPROVEMENTS</a:t>
            </a:r>
          </a:p>
          <a:p>
            <a:r>
              <a:t>The left and right panels describe different experiments and metrics. They are not a continuous benchmark or a before/after comparison across datasets.</a:t>
            </a:r>
          </a:p>
          <a:p/>
          <a:p>
            <a:r>
              <a:t>LEFT PANEL — EARLIER TWO-SCHEME AUDIT</a:t>
            </a:r>
          </a:p>
          <a:p>
            <a:r>
              <a:t>Population: 100 synthetic users × five conditions = 500 questions, covering PM-SYM and e-Shram. The aggregate includes train/dev/test cases (300/100/100), not a held-out-only test. Pass requires the weighted score to be at least 0.75 and no safety gate. Weights: coverage .35, follow-up .25, groundedness .25, actionability .15. Gates catch false eligibility confirmation or a forbidden promise. Gate violations are counts; a case can trigger more than one gate.</a:t>
            </a:r>
          </a:p>
          <a:p/>
          <a:p>
            <a:r>
              <a:t>Original model baselines in the gray strip use the original scorer: Qwen3 0.6B 51/500=10.2%; Gemma 1B 111/500=22.2%; Qwen3.5 0.8B 136/500=27.2%. Sources: synalign/docs/results/EARLIER_WORK.md and FINAL_MODEL_PERFORMANCE_COMPARISON.md. The saved answer files for the 0.6B and Gemma full runs are absent, so they have not been regraded. Do not treat their scores as directly comparable to the corrected rows below or claim a measured TRACE-after result for those two models.</a:t>
            </a:r>
          </a:p>
          <a:p/>
          <a:p>
            <a:r>
              <a:t>The four rows below the strip all use the current corrected scorer on the SAME saved Qwen3.5 500-case runs. Source of truth: synalign/data/evaluation/saved_runs_regraded.json, audits[].regraded.all:</a:t>
            </a:r>
          </a:p>
          <a:p>
            <a:r>
              <a:t>- Model + retrieved text: 143/500=28.6%, 304 safety violations.</a:t>
            </a:r>
          </a:p>
          <a:p>
            <a:r>
              <a:t>- Router + rule checks: 241/500=48.2%, 146 safety violations.</a:t>
            </a:r>
          </a:p>
          <a:p>
            <a:r>
              <a:t>- Rule triggering fixed: 487/500=97.4%, 0 safety violations.</a:t>
            </a:r>
          </a:p>
          <a:p>
            <a:r>
              <a:t>- LoRA-trained variant: 335/500=67.0%, 0 safety violations.</a:t>
            </a:r>
          </a:p>
          <a:p>
            <a:r>
              <a:t>Thus rule-trigger fixes with the router yield 97.4 - 28.6 = +68.8 percentage points over the starting model system under the same corrected metric, and gate counts fall from 304 to zero. The LoRA variant is a separate evaluated variant, not a later improvement beyond 97.4%.</a:t>
            </a:r>
          </a:p>
          <a:p/>
          <a:p>
            <a:r>
              <a:t>Mechanism: the initial router/rule change moved eligibility comparisons into deterministic code. The next fix made the rules trigger reliably. For handled eligibility questions, code both computed the verdict and produced a templated answer, bypassing the model. The 97.4% figure is system performance, not intrinsic LLM improvement or current 54-scheme accuracy. It applies only to the earlier two-scheme implementation; that special-purpose code has since been removed. All 13 residual errors in the saved 97.4% run arose from the readability check according to EARLIER_WORK.md.</a:t>
            </a:r>
          </a:p>
          <a:p/>
          <a:p>
            <a:r>
              <a:t>Regrading corrected follow-up detection, including imperative requests and worker_type/work type aliases; it did not generate new model answers. Original recorded pass rates were 27.2%, 28.2%, 53.8%, and 53.8% for these four runs. Do not attribute the score increase from 53.8% to 97.4% on the identical saved rule-trigger answers to a model improvement; that increase is measurement correction. The +68.8-point comparison above uses corrected grading for BOTH endpoints.</a:t>
            </a:r>
          </a:p>
          <a:p/>
          <a:p>
            <a:r>
              <a:t>The older comparison report lists 305 Qwen3.5 safety violations, while the saved audit and current regrading file show 304. This slide uses the saved-file source consistently. No claim of universal safety follows from zero observed violations on this narrow synthetic audit.</a:t>
            </a:r>
          </a:p>
          <a:p/>
          <a:p>
            <a:r>
              <a:t>RIGHT PANEL — CURRENT BUILD</a:t>
            </a:r>
          </a:p>
          <a:p>
            <a:r>
              <a:t>The current evaluation contains 1,080 fact-grounded questions: 316 dev questions about 18 schemes and 764 held-out questions about 36 schemes, searched against the 54-scheme corpus. Same Qwen3.5-0.8B model for every displayed condition. Current answer accuracy is a task-specific rules-based grade (numbers, scheme names, eligibility yes/no, and refusal for missing evidence), not the historical weighted pass metric.</a:t>
            </a:r>
          </a:p>
          <a:p/>
          <a:p>
            <a:r>
              <a:t>Source: synalign/data/evaluation/india_schemes/test_final/report.json. Correctness: model alone 17.2%; old character-TF-IDF search 61.7%; meaning-only search 77.9%; full fusion pipeline 76.4%. Full pipeline 95% CI: 72–80%. Paired fusion versus old_search: +14.79 percentage points, 95% CI +11.00 to +18.88. Fusion versus meaning-only: -1.44 points, 95% CI -3.22 to +0.27; no clear difference at 54 schemes. Confidence intervals resample whole schemes.</a:t>
            </a:r>
          </a:p>
          <a:p/>
          <a:p>
            <a:r>
              <a:t>Scale test: 78.1% on 648 questions that name target schemes (facts, typos, eligibility) among approximately 4,600 schemes, versus 78.7% at 54 schemes. The background catalogue is test-only; it is not the deployed knowledge base. Sources: README.md and synalign/data/evaluation/india_schemes/test_scale/report.json. Overall scale accuracy is 70.9%, but situations and absent-scheme questions are confounded by plausible background matches.</a:t>
            </a:r>
          </a:p>
          <a:p/>
          <a:p>
            <a:r>
              <a:t>Improvement loop: change one thing, run 316 dev questions, compare paired answers. KEEP only if the entire 95% interval of improvement is above zero and unsafe yes does not increase; UNDO if worse or less safe; otherwise no clear difference. Three prompt/repetition-penalty experiments were rejected. Retained settings are evaluated on the held-out test questions.</a:t>
            </a:r>
          </a:p>
          <a:p/>
          <a:p>
            <a:r>
              <a:t>Current limitation: the full fusion pipeline gives a wrong yes to 12/36 ineligible Hindi cases and 1/36 ineligible English cases. The present guard blocks listed promises but does not verify numeric eligibility. 252 current dev-scheme fine-tuning examples are prepared, but that training has not run; the historical LoRA row belongs to the earlier two-scheme experiment. Current source review also remains incomplete (20 of 54 records need review).</a:t>
            </a:r>
          </a:p>
          <a:p/>
          <a:p>
            <a:r>
              <a:t>All sources are local project files at /Users/vaibhav_joshi/Desktop/cb_harness_loop. This revision adds saved historical results; no new model run or training was performed.</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48640" y="365760"/>
            <a:ext cx="2450592" cy="320040"/>
          </a:xfrm>
          <a:prstGeom prst="roundRect">
            <a:avLst>
              <a:gd name="adj" fmla="val 6000"/>
            </a:avLst>
          </a:prstGeom>
          <a:solidFill>
            <a:srgbClr val="E4F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94944" y="427939"/>
            <a:ext cx="2157984" cy="182880"/>
          </a:xfrm>
          <a:prstGeom prst="rect">
            <a:avLst/>
          </a:prstGeom>
          <a:noFill/>
        </p:spPr>
        <p:txBody>
          <a:bodyPr wrap="square" lIns="0" rIns="0" tIns="0" bIns="0" anchor="t">
            <a:spAutoFit/>
          </a:bodyPr>
          <a:lstStyle/>
          <a:p>
            <a:pPr>
              <a:lnSpc>
                <a:spcPct val="112000"/>
              </a:lnSpc>
              <a:spcBef>
                <a:spcPts val="0"/>
              </a:spcBef>
              <a:spcAft>
                <a:spcPts val="0"/>
              </a:spcAft>
              <a:defRPr sz="1019" b="1">
                <a:solidFill>
                  <a:srgbClr val="12798A"/>
                </a:solidFill>
                <a:latin typeface="Arial"/>
              </a:defRPr>
            </a:pPr>
            <a:r>
              <a:t>CURRENT BUILD  ·  TRACE</a:t>
            </a:r>
          </a:p>
        </p:txBody>
      </p:sp>
      <p:sp>
        <p:nvSpPr>
          <p:cNvPr id="4" name="TextBox 3"/>
          <p:cNvSpPr txBox="1"/>
          <p:nvPr/>
        </p:nvSpPr>
        <p:spPr>
          <a:xfrm>
            <a:off x="548640" y="877824"/>
            <a:ext cx="11091672" cy="512064"/>
          </a:xfrm>
          <a:prstGeom prst="rect">
            <a:avLst/>
          </a:prstGeom>
          <a:noFill/>
        </p:spPr>
        <p:txBody>
          <a:bodyPr wrap="square" lIns="0" rIns="0" tIns="0" bIns="0" anchor="t">
            <a:spAutoFit/>
          </a:bodyPr>
          <a:lstStyle/>
          <a:p>
            <a:pPr>
              <a:lnSpc>
                <a:spcPct val="112000"/>
              </a:lnSpc>
              <a:spcBef>
                <a:spcPts val="0"/>
              </a:spcBef>
              <a:spcAft>
                <a:spcPts val="0"/>
              </a:spcAft>
              <a:defRPr sz="2950" b="1">
                <a:solidFill>
                  <a:srgbClr val="14222E"/>
                </a:solidFill>
                <a:latin typeface="Arial"/>
              </a:defRPr>
            </a:pPr>
            <a:r>
              <a:t>A local scheme assistant with a built-in test bench</a:t>
            </a:r>
          </a:p>
        </p:txBody>
      </p:sp>
      <p:sp>
        <p:nvSpPr>
          <p:cNvPr id="5" name="TextBox 4"/>
          <p:cNvSpPr txBox="1"/>
          <p:nvPr/>
        </p:nvSpPr>
        <p:spPr>
          <a:xfrm>
            <a:off x="548640" y="1453896"/>
            <a:ext cx="11091672" cy="356616"/>
          </a:xfrm>
          <a:prstGeom prst="rect">
            <a:avLst/>
          </a:prstGeom>
          <a:noFill/>
        </p:spPr>
        <p:txBody>
          <a:bodyPr wrap="square" lIns="0" rIns="0" tIns="0" bIns="0" anchor="t">
            <a:spAutoFit/>
          </a:bodyPr>
          <a:lstStyle/>
          <a:p>
            <a:pPr>
              <a:lnSpc>
                <a:spcPct val="112000"/>
              </a:lnSpc>
              <a:spcBef>
                <a:spcPts val="0"/>
              </a:spcBef>
              <a:spcAft>
                <a:spcPts val="0"/>
              </a:spcAft>
              <a:defRPr sz="1500" b="0">
                <a:solidFill>
                  <a:srgbClr val="5B6573"/>
                </a:solidFill>
                <a:latin typeface="Arial"/>
              </a:defRPr>
            </a:pPr>
            <a:r>
              <a:t>Find the evidence, answer in the user’s language, and measure every change.</a:t>
            </a:r>
          </a:p>
        </p:txBody>
      </p:sp>
      <p:sp>
        <p:nvSpPr>
          <p:cNvPr id="6" name="Rectangle 5"/>
          <p:cNvSpPr/>
          <p:nvPr/>
        </p:nvSpPr>
        <p:spPr>
          <a:xfrm>
            <a:off x="548640" y="6437376"/>
            <a:ext cx="11091672" cy="10972"/>
          </a:xfrm>
          <a:prstGeom prst="rect">
            <a:avLst/>
          </a:prstGeom>
          <a:solidFill>
            <a:srgbClr val="DDE4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48640" y="6528816"/>
            <a:ext cx="10698480" cy="164592"/>
          </a:xfrm>
          <a:prstGeom prst="rect">
            <a:avLst/>
          </a:prstGeom>
          <a:noFill/>
        </p:spPr>
        <p:txBody>
          <a:bodyPr wrap="square" lIns="0" rIns="0" tIns="0" bIns="0" anchor="t">
            <a:spAutoFit/>
          </a:bodyPr>
          <a:lstStyle/>
          <a:p>
            <a:pPr>
              <a:lnSpc>
                <a:spcPct val="112000"/>
              </a:lnSpc>
              <a:spcBef>
                <a:spcPts val="0"/>
              </a:spcBef>
              <a:spcAft>
                <a:spcPts val="0"/>
              </a:spcAft>
              <a:defRPr sz="880" b="0">
                <a:solidFill>
                  <a:srgbClr val="5B6573"/>
                </a:solidFill>
                <a:latin typeface="Arial"/>
              </a:defRPr>
            </a:pPr>
            <a:r>
              <a:t>TRACE = SYNALIGN  •  Current implementation and saved evaluations  •  Sources and methodology in speaker notes</a:t>
            </a:r>
          </a:p>
        </p:txBody>
      </p:sp>
      <p:sp>
        <p:nvSpPr>
          <p:cNvPr id="8" name="TextBox 7"/>
          <p:cNvSpPr txBox="1"/>
          <p:nvPr/>
        </p:nvSpPr>
        <p:spPr>
          <a:xfrm>
            <a:off x="11183112" y="6492240"/>
            <a:ext cx="457200" cy="228600"/>
          </a:xfrm>
          <a:prstGeom prst="rect">
            <a:avLst/>
          </a:prstGeom>
          <a:noFill/>
        </p:spPr>
        <p:txBody>
          <a:bodyPr wrap="square" lIns="0" rIns="0" tIns="0" bIns="0" anchor="t">
            <a:spAutoFit/>
          </a:bodyPr>
          <a:lstStyle/>
          <a:p>
            <a:pPr algn="r">
              <a:lnSpc>
                <a:spcPct val="112000"/>
              </a:lnSpc>
              <a:spcBef>
                <a:spcPts val="0"/>
              </a:spcBef>
              <a:spcAft>
                <a:spcPts val="0"/>
              </a:spcAft>
              <a:defRPr sz="1100" b="1">
                <a:solidFill>
                  <a:srgbClr val="12798A"/>
                </a:solidFill>
                <a:latin typeface="Arial"/>
              </a:defRPr>
            </a:pPr>
            <a:r>
              <a:t>01</a:t>
            </a:r>
          </a:p>
        </p:txBody>
      </p:sp>
      <p:sp>
        <p:nvSpPr>
          <p:cNvPr id="9" name="Rounded Rectangle 8"/>
          <p:cNvSpPr/>
          <p:nvPr/>
        </p:nvSpPr>
        <p:spPr>
          <a:xfrm>
            <a:off x="548640" y="2066543"/>
            <a:ext cx="2697480" cy="2852928"/>
          </a:xfrm>
          <a:prstGeom prst="roundRect">
            <a:avLst>
              <a:gd name="adj" fmla="val 6000"/>
            </a:avLst>
          </a:prstGeom>
          <a:solidFill>
            <a:srgbClr val="F4F6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548640" y="2066543"/>
            <a:ext cx="2697480" cy="41148"/>
          </a:xfrm>
          <a:prstGeom prst="rect">
            <a:avLst/>
          </a:prstGeom>
          <a:solidFill>
            <a:srgbClr val="DDE4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ounded Rectangle 10"/>
          <p:cNvSpPr/>
          <p:nvPr/>
        </p:nvSpPr>
        <p:spPr>
          <a:xfrm>
            <a:off x="3346704" y="2066543"/>
            <a:ext cx="2697480" cy="2852928"/>
          </a:xfrm>
          <a:prstGeom prst="roundRect">
            <a:avLst>
              <a:gd name="adj" fmla="val 6000"/>
            </a:avLst>
          </a:prstGeom>
          <a:solidFill>
            <a:srgbClr val="E4F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3346704" y="2066543"/>
            <a:ext cx="2697480" cy="41148"/>
          </a:xfrm>
          <a:prstGeom prst="rect">
            <a:avLst/>
          </a:prstGeom>
          <a:solidFill>
            <a:srgbClr val="12798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ounded Rectangle 12"/>
          <p:cNvSpPr/>
          <p:nvPr/>
        </p:nvSpPr>
        <p:spPr>
          <a:xfrm>
            <a:off x="6144768" y="2066543"/>
            <a:ext cx="2697480" cy="2852928"/>
          </a:xfrm>
          <a:prstGeom prst="roundRect">
            <a:avLst>
              <a:gd name="adj" fmla="val 6000"/>
            </a:avLst>
          </a:prstGeom>
          <a:solidFill>
            <a:srgbClr val="E3F2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6144768" y="2066543"/>
            <a:ext cx="2697480" cy="41148"/>
          </a:xfrm>
          <a:prstGeom prst="rect">
            <a:avLst/>
          </a:prstGeom>
          <a:solidFill>
            <a:srgbClr val="1E9E7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ounded Rectangle 14"/>
          <p:cNvSpPr/>
          <p:nvPr/>
        </p:nvSpPr>
        <p:spPr>
          <a:xfrm>
            <a:off x="8942832" y="2066543"/>
            <a:ext cx="2697480" cy="2852928"/>
          </a:xfrm>
          <a:prstGeom prst="roundRect">
            <a:avLst>
              <a:gd name="adj" fmla="val 6000"/>
            </a:avLst>
          </a:prstGeom>
          <a:solidFill>
            <a:srgbClr val="F4F6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8942832" y="2066543"/>
            <a:ext cx="2697480" cy="41148"/>
          </a:xfrm>
          <a:prstGeom prst="rect">
            <a:avLst/>
          </a:prstGeom>
          <a:solidFill>
            <a:srgbClr val="DDE4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722376" y="2267712"/>
            <a:ext cx="2331720" cy="201168"/>
          </a:xfrm>
          <a:prstGeom prst="rect">
            <a:avLst/>
          </a:prstGeom>
          <a:noFill/>
        </p:spPr>
        <p:txBody>
          <a:bodyPr wrap="square" lIns="0" rIns="0" tIns="0" bIns="0" anchor="t">
            <a:spAutoFit/>
          </a:bodyPr>
          <a:lstStyle/>
          <a:p>
            <a:pPr>
              <a:lnSpc>
                <a:spcPct val="112000"/>
              </a:lnSpc>
              <a:spcBef>
                <a:spcPts val="0"/>
              </a:spcBef>
              <a:spcAft>
                <a:spcPts val="0"/>
              </a:spcAft>
              <a:defRPr sz="1070" b="1">
                <a:solidFill>
                  <a:srgbClr val="12798A"/>
                </a:solidFill>
                <a:latin typeface="Arial"/>
              </a:defRPr>
            </a:pPr>
            <a:r>
              <a:t>01  SCHEME KNOWLEDGE</a:t>
            </a:r>
          </a:p>
        </p:txBody>
      </p:sp>
      <p:sp>
        <p:nvSpPr>
          <p:cNvPr id="18" name="TextBox 17"/>
          <p:cNvSpPr txBox="1"/>
          <p:nvPr/>
        </p:nvSpPr>
        <p:spPr>
          <a:xfrm>
            <a:off x="722376" y="2670048"/>
            <a:ext cx="2331720" cy="365760"/>
          </a:xfrm>
          <a:prstGeom prst="rect">
            <a:avLst/>
          </a:prstGeom>
          <a:noFill/>
        </p:spPr>
        <p:txBody>
          <a:bodyPr wrap="square" lIns="0" rIns="0" tIns="0" bIns="0" anchor="t">
            <a:spAutoFit/>
          </a:bodyPr>
          <a:lstStyle/>
          <a:p>
            <a:pPr>
              <a:lnSpc>
                <a:spcPct val="112000"/>
              </a:lnSpc>
              <a:spcBef>
                <a:spcPts val="0"/>
              </a:spcBef>
              <a:spcAft>
                <a:spcPts val="0"/>
              </a:spcAft>
              <a:defRPr sz="2500" b="1">
                <a:solidFill>
                  <a:srgbClr val="14222E"/>
                </a:solidFill>
                <a:latin typeface="Arial"/>
              </a:defRPr>
            </a:pPr>
            <a:r>
              <a:t>54 schemes</a:t>
            </a:r>
          </a:p>
        </p:txBody>
      </p:sp>
      <p:sp>
        <p:nvSpPr>
          <p:cNvPr id="19" name="TextBox 18"/>
          <p:cNvSpPr txBox="1"/>
          <p:nvPr/>
        </p:nvSpPr>
        <p:spPr>
          <a:xfrm>
            <a:off x="722376" y="3118104"/>
            <a:ext cx="2331720" cy="274320"/>
          </a:xfrm>
          <a:prstGeom prst="rect">
            <a:avLst/>
          </a:prstGeom>
          <a:noFill/>
        </p:spPr>
        <p:txBody>
          <a:bodyPr wrap="square" lIns="0" rIns="0" tIns="0" bIns="0" anchor="t">
            <a:spAutoFit/>
          </a:bodyPr>
          <a:lstStyle/>
          <a:p>
            <a:pPr>
              <a:lnSpc>
                <a:spcPct val="112000"/>
              </a:lnSpc>
              <a:spcBef>
                <a:spcPts val="0"/>
              </a:spcBef>
              <a:spcAft>
                <a:spcPts val="0"/>
              </a:spcAft>
              <a:defRPr sz="1650" b="1">
                <a:solidFill>
                  <a:srgbClr val="14222E"/>
                </a:solidFill>
                <a:latin typeface="Arial"/>
              </a:defRPr>
            </a:pPr>
            <a:r>
              <a:t>286 source sections</a:t>
            </a:r>
          </a:p>
        </p:txBody>
      </p:sp>
      <p:sp>
        <p:nvSpPr>
          <p:cNvPr id="20" name="TextBox 19"/>
          <p:cNvSpPr txBox="1"/>
          <p:nvPr/>
        </p:nvSpPr>
        <p:spPr>
          <a:xfrm>
            <a:off x="722376" y="3621024"/>
            <a:ext cx="2331720" cy="850392"/>
          </a:xfrm>
          <a:prstGeom prst="rect">
            <a:avLst/>
          </a:prstGeom>
          <a:noFill/>
        </p:spPr>
        <p:txBody>
          <a:bodyPr wrap="square" lIns="0" rIns="0" tIns="0" bIns="0" anchor="t">
            <a:spAutoFit/>
          </a:bodyPr>
          <a:lstStyle/>
          <a:p>
            <a:pPr>
              <a:lnSpc>
                <a:spcPct val="112000"/>
              </a:lnSpc>
              <a:spcBef>
                <a:spcPts val="0"/>
              </a:spcBef>
              <a:spcAft>
                <a:spcPts val="0"/>
              </a:spcAft>
              <a:defRPr sz="1440" b="0">
                <a:solidFill>
                  <a:srgbClr val="5B6573"/>
                </a:solidFill>
                <a:latin typeface="Arial"/>
              </a:defRPr>
            </a:pPr>
            <a:r>
              <a:t>Rules, benefits, applications</a:t>
            </a:r>
          </a:p>
          <a:p>
            <a:pPr>
              <a:lnSpc>
                <a:spcPct val="112000"/>
              </a:lnSpc>
              <a:spcBef>
                <a:spcPts val="0"/>
              </a:spcBef>
              <a:spcAft>
                <a:spcPts val="0"/>
              </a:spcAft>
              <a:defRPr sz="1440" b="0">
                <a:solidFill>
                  <a:srgbClr val="5B6573"/>
                </a:solidFill>
                <a:latin typeface="Arial"/>
              </a:defRPr>
            </a:pPr>
            <a:r>
              <a:t>and required documents</a:t>
            </a:r>
          </a:p>
          <a:p>
            <a:pPr>
              <a:lnSpc>
                <a:spcPct val="112000"/>
              </a:lnSpc>
              <a:spcBef>
                <a:spcPts val="0"/>
              </a:spcBef>
              <a:spcAft>
                <a:spcPts val="0"/>
              </a:spcAft>
              <a:defRPr sz="1440" b="0">
                <a:solidFill>
                  <a:srgbClr val="5B6573"/>
                </a:solidFill>
                <a:latin typeface="Arial"/>
              </a:defRPr>
            </a:pPr>
            <a:r>
              <a:t>linked to official sources.</a:t>
            </a:r>
          </a:p>
        </p:txBody>
      </p:sp>
      <p:sp>
        <p:nvSpPr>
          <p:cNvPr id="21" name="TextBox 20"/>
          <p:cNvSpPr txBox="1"/>
          <p:nvPr/>
        </p:nvSpPr>
        <p:spPr>
          <a:xfrm>
            <a:off x="722376" y="4608576"/>
            <a:ext cx="2331720" cy="192024"/>
          </a:xfrm>
          <a:prstGeom prst="rect">
            <a:avLst/>
          </a:prstGeom>
          <a:noFill/>
        </p:spPr>
        <p:txBody>
          <a:bodyPr wrap="square" lIns="0" rIns="0" tIns="0" bIns="0" anchor="t">
            <a:spAutoFit/>
          </a:bodyPr>
          <a:lstStyle/>
          <a:p>
            <a:pPr>
              <a:lnSpc>
                <a:spcPct val="112000"/>
              </a:lnSpc>
              <a:spcBef>
                <a:spcPts val="0"/>
              </a:spcBef>
              <a:spcAft>
                <a:spcPts val="0"/>
              </a:spcAft>
              <a:defRPr sz="1120" b="1">
                <a:solidFill>
                  <a:srgbClr val="9A6412"/>
                </a:solidFill>
                <a:latin typeface="Arial"/>
              </a:defRPr>
            </a:pPr>
            <a:r>
              <a:t>34 verified  ·  20 need review</a:t>
            </a:r>
          </a:p>
        </p:txBody>
      </p:sp>
      <p:sp>
        <p:nvSpPr>
          <p:cNvPr id="22" name="TextBox 21"/>
          <p:cNvSpPr txBox="1"/>
          <p:nvPr/>
        </p:nvSpPr>
        <p:spPr>
          <a:xfrm>
            <a:off x="3520440" y="2267712"/>
            <a:ext cx="2331720" cy="201168"/>
          </a:xfrm>
          <a:prstGeom prst="rect">
            <a:avLst/>
          </a:prstGeom>
          <a:noFill/>
        </p:spPr>
        <p:txBody>
          <a:bodyPr wrap="square" lIns="0" rIns="0" tIns="0" bIns="0" anchor="t">
            <a:spAutoFit/>
          </a:bodyPr>
          <a:lstStyle/>
          <a:p>
            <a:pPr>
              <a:lnSpc>
                <a:spcPct val="112000"/>
              </a:lnSpc>
              <a:spcBef>
                <a:spcPts val="0"/>
              </a:spcBef>
              <a:spcAft>
                <a:spcPts val="0"/>
              </a:spcAft>
              <a:defRPr sz="1070" b="1">
                <a:solidFill>
                  <a:srgbClr val="12798A"/>
                </a:solidFill>
                <a:latin typeface="Arial"/>
              </a:defRPr>
            </a:pPr>
            <a:r>
              <a:t>02  HYBRID SEARCH</a:t>
            </a:r>
          </a:p>
        </p:txBody>
      </p:sp>
      <p:sp>
        <p:nvSpPr>
          <p:cNvPr id="23" name="TextBox 22"/>
          <p:cNvSpPr txBox="1"/>
          <p:nvPr/>
        </p:nvSpPr>
        <p:spPr>
          <a:xfrm>
            <a:off x="3520440" y="2688336"/>
            <a:ext cx="2331720" cy="347472"/>
          </a:xfrm>
          <a:prstGeom prst="rect">
            <a:avLst/>
          </a:prstGeom>
          <a:noFill/>
        </p:spPr>
        <p:txBody>
          <a:bodyPr wrap="square" lIns="0" rIns="0" tIns="0" bIns="0" anchor="t">
            <a:spAutoFit/>
          </a:bodyPr>
          <a:lstStyle/>
          <a:p>
            <a:pPr>
              <a:lnSpc>
                <a:spcPct val="112000"/>
              </a:lnSpc>
              <a:spcBef>
                <a:spcPts val="0"/>
              </a:spcBef>
              <a:spcAft>
                <a:spcPts val="0"/>
              </a:spcAft>
              <a:defRPr sz="2050" b="1">
                <a:solidFill>
                  <a:srgbClr val="14222E"/>
                </a:solidFill>
                <a:latin typeface="Arial"/>
              </a:defRPr>
            </a:pPr>
            <a:r>
              <a:t>Words + meaning</a:t>
            </a:r>
          </a:p>
        </p:txBody>
      </p:sp>
      <p:sp>
        <p:nvSpPr>
          <p:cNvPr id="24" name="TextBox 23"/>
          <p:cNvSpPr txBox="1"/>
          <p:nvPr/>
        </p:nvSpPr>
        <p:spPr>
          <a:xfrm>
            <a:off x="3520440" y="3172968"/>
            <a:ext cx="2331720" cy="274320"/>
          </a:xfrm>
          <a:prstGeom prst="rect">
            <a:avLst/>
          </a:prstGeom>
          <a:noFill/>
        </p:spPr>
        <p:txBody>
          <a:bodyPr wrap="square" lIns="0" rIns="0" tIns="0" bIns="0" anchor="t">
            <a:spAutoFit/>
          </a:bodyPr>
          <a:lstStyle/>
          <a:p>
            <a:pPr>
              <a:lnSpc>
                <a:spcPct val="112000"/>
              </a:lnSpc>
              <a:spcBef>
                <a:spcPts val="0"/>
              </a:spcBef>
              <a:spcAft>
                <a:spcPts val="0"/>
              </a:spcAft>
              <a:defRPr sz="1380" b="0">
                <a:solidFill>
                  <a:srgbClr val="5B6573"/>
                </a:solidFill>
                <a:latin typeface="Arial"/>
              </a:defRPr>
            </a:pPr>
            <a:r>
              <a:t>BM25 + character TF-IDF</a:t>
            </a:r>
          </a:p>
        </p:txBody>
      </p:sp>
      <p:sp>
        <p:nvSpPr>
          <p:cNvPr id="25" name="TextBox 24"/>
          <p:cNvSpPr txBox="1"/>
          <p:nvPr/>
        </p:nvSpPr>
        <p:spPr>
          <a:xfrm>
            <a:off x="3520440" y="3502152"/>
            <a:ext cx="2331720" cy="310896"/>
          </a:xfrm>
          <a:prstGeom prst="rect">
            <a:avLst/>
          </a:prstGeom>
          <a:noFill/>
        </p:spPr>
        <p:txBody>
          <a:bodyPr wrap="square" lIns="0" rIns="0" tIns="0" bIns="0" anchor="t">
            <a:spAutoFit/>
          </a:bodyPr>
          <a:lstStyle/>
          <a:p>
            <a:pPr>
              <a:lnSpc>
                <a:spcPct val="112000"/>
              </a:lnSpc>
              <a:spcBef>
                <a:spcPts val="0"/>
              </a:spcBef>
              <a:spcAft>
                <a:spcPts val="0"/>
              </a:spcAft>
              <a:defRPr sz="1420" b="1">
                <a:solidFill>
                  <a:srgbClr val="12798A"/>
                </a:solidFill>
                <a:latin typeface="Arial"/>
              </a:defRPr>
            </a:pPr>
            <a:r>
              <a:t>Qwen3-Embedding-0.6B</a:t>
            </a:r>
          </a:p>
        </p:txBody>
      </p:sp>
      <p:sp>
        <p:nvSpPr>
          <p:cNvPr id="26" name="TextBox 25"/>
          <p:cNvSpPr txBox="1"/>
          <p:nvPr/>
        </p:nvSpPr>
        <p:spPr>
          <a:xfrm>
            <a:off x="3520440" y="3977639"/>
            <a:ext cx="2331720" cy="749808"/>
          </a:xfrm>
          <a:prstGeom prst="rect">
            <a:avLst/>
          </a:prstGeom>
          <a:noFill/>
        </p:spPr>
        <p:txBody>
          <a:bodyPr wrap="square" lIns="0" rIns="0" tIns="0" bIns="0" anchor="t">
            <a:spAutoFit/>
          </a:bodyPr>
          <a:lstStyle/>
          <a:p>
            <a:pPr>
              <a:lnSpc>
                <a:spcPct val="112000"/>
              </a:lnSpc>
              <a:spcBef>
                <a:spcPts val="0"/>
              </a:spcBef>
              <a:spcAft>
                <a:spcPts val="0"/>
              </a:spcAft>
              <a:defRPr sz="1420" b="0">
                <a:solidFill>
                  <a:srgbClr val="5B6573"/>
                </a:solidFill>
                <a:latin typeface="Arial"/>
              </a:defRPr>
            </a:pPr>
            <a:r>
              <a:t>Merge rankings; send up to</a:t>
            </a:r>
          </a:p>
          <a:p>
            <a:pPr>
              <a:lnSpc>
                <a:spcPct val="112000"/>
              </a:lnSpc>
              <a:spcBef>
                <a:spcPts val="0"/>
              </a:spcBef>
              <a:spcAft>
                <a:spcPts val="0"/>
              </a:spcAft>
              <a:defRPr sz="1420" b="0">
                <a:solidFill>
                  <a:srgbClr val="5B6573"/>
                </a:solidFill>
                <a:latin typeface="Arial"/>
              </a:defRPr>
            </a:pPr>
            <a:r>
              <a:t>3 sections to the model,</a:t>
            </a:r>
          </a:p>
          <a:p>
            <a:pPr>
              <a:lnSpc>
                <a:spcPct val="112000"/>
              </a:lnSpc>
              <a:spcBef>
                <a:spcPts val="0"/>
              </a:spcBef>
              <a:spcAft>
                <a:spcPts val="0"/>
              </a:spcAft>
              <a:defRPr sz="1420" b="0">
                <a:solidFill>
                  <a:srgbClr val="5B6573"/>
                </a:solidFill>
                <a:latin typeface="Arial"/>
              </a:defRPr>
            </a:pPr>
            <a:r>
              <a:t>with eligibility rules first.</a:t>
            </a:r>
          </a:p>
        </p:txBody>
      </p:sp>
      <p:sp>
        <p:nvSpPr>
          <p:cNvPr id="27" name="TextBox 26"/>
          <p:cNvSpPr txBox="1"/>
          <p:nvPr/>
        </p:nvSpPr>
        <p:spPr>
          <a:xfrm>
            <a:off x="6318504" y="2267712"/>
            <a:ext cx="2331720" cy="201168"/>
          </a:xfrm>
          <a:prstGeom prst="rect">
            <a:avLst/>
          </a:prstGeom>
          <a:noFill/>
        </p:spPr>
        <p:txBody>
          <a:bodyPr wrap="square" lIns="0" rIns="0" tIns="0" bIns="0" anchor="t">
            <a:spAutoFit/>
          </a:bodyPr>
          <a:lstStyle/>
          <a:p>
            <a:pPr>
              <a:lnSpc>
                <a:spcPct val="112000"/>
              </a:lnSpc>
              <a:spcBef>
                <a:spcPts val="0"/>
              </a:spcBef>
              <a:spcAft>
                <a:spcPts val="0"/>
              </a:spcAft>
              <a:defRPr sz="1070" b="1">
                <a:solidFill>
                  <a:srgbClr val="1E9E72"/>
                </a:solidFill>
                <a:latin typeface="Arial"/>
              </a:defRPr>
            </a:pPr>
            <a:r>
              <a:t>03  LOCAL ANSWER MODEL</a:t>
            </a:r>
          </a:p>
        </p:txBody>
      </p:sp>
      <p:sp>
        <p:nvSpPr>
          <p:cNvPr id="28" name="TextBox 27"/>
          <p:cNvSpPr txBox="1"/>
          <p:nvPr/>
        </p:nvSpPr>
        <p:spPr>
          <a:xfrm>
            <a:off x="6318504" y="2670048"/>
            <a:ext cx="2331720" cy="365760"/>
          </a:xfrm>
          <a:prstGeom prst="rect">
            <a:avLst/>
          </a:prstGeom>
          <a:noFill/>
        </p:spPr>
        <p:txBody>
          <a:bodyPr wrap="square" lIns="0" rIns="0" tIns="0" bIns="0" anchor="t">
            <a:spAutoFit/>
          </a:bodyPr>
          <a:lstStyle/>
          <a:p>
            <a:pPr>
              <a:lnSpc>
                <a:spcPct val="112000"/>
              </a:lnSpc>
              <a:spcBef>
                <a:spcPts val="0"/>
              </a:spcBef>
              <a:spcAft>
                <a:spcPts val="0"/>
              </a:spcAft>
              <a:defRPr sz="2350" b="1">
                <a:solidFill>
                  <a:srgbClr val="14222E"/>
                </a:solidFill>
                <a:latin typeface="Arial"/>
              </a:defRPr>
            </a:pPr>
            <a:r>
              <a:t>Qwen3.5-0.8B</a:t>
            </a:r>
          </a:p>
        </p:txBody>
      </p:sp>
      <p:sp>
        <p:nvSpPr>
          <p:cNvPr id="29" name="TextBox 28"/>
          <p:cNvSpPr txBox="1"/>
          <p:nvPr/>
        </p:nvSpPr>
        <p:spPr>
          <a:xfrm>
            <a:off x="6318504" y="3172968"/>
            <a:ext cx="2331720" cy="274320"/>
          </a:xfrm>
          <a:prstGeom prst="rect">
            <a:avLst/>
          </a:prstGeom>
          <a:noFill/>
        </p:spPr>
        <p:txBody>
          <a:bodyPr wrap="square" lIns="0" rIns="0" tIns="0" bIns="0" anchor="t">
            <a:spAutoFit/>
          </a:bodyPr>
          <a:lstStyle/>
          <a:p>
            <a:pPr>
              <a:lnSpc>
                <a:spcPct val="112000"/>
              </a:lnSpc>
              <a:spcBef>
                <a:spcPts val="0"/>
              </a:spcBef>
              <a:spcAft>
                <a:spcPts val="0"/>
              </a:spcAft>
              <a:defRPr sz="1400" b="1">
                <a:solidFill>
                  <a:srgbClr val="1E9E72"/>
                </a:solidFill>
                <a:latin typeface="Arial"/>
              </a:defRPr>
            </a:pPr>
            <a:r>
              <a:t>8-bit GGUF  ·  llama.cpp</a:t>
            </a:r>
          </a:p>
        </p:txBody>
      </p:sp>
      <p:sp>
        <p:nvSpPr>
          <p:cNvPr id="30" name="TextBox 29"/>
          <p:cNvSpPr txBox="1"/>
          <p:nvPr/>
        </p:nvSpPr>
        <p:spPr>
          <a:xfrm>
            <a:off x="6318504" y="3694176"/>
            <a:ext cx="2331720" cy="832104"/>
          </a:xfrm>
          <a:prstGeom prst="rect">
            <a:avLst/>
          </a:prstGeom>
          <a:noFill/>
        </p:spPr>
        <p:txBody>
          <a:bodyPr wrap="square" lIns="0" rIns="0" tIns="0" bIns="0" anchor="t">
            <a:spAutoFit/>
          </a:bodyPr>
          <a:lstStyle/>
          <a:p>
            <a:pPr>
              <a:lnSpc>
                <a:spcPct val="112000"/>
              </a:lnSpc>
              <a:spcBef>
                <a:spcPts val="0"/>
              </a:spcBef>
              <a:spcAft>
                <a:spcPts val="0"/>
              </a:spcAft>
              <a:defRPr sz="1420" b="0">
                <a:solidFill>
                  <a:srgbClr val="5B6573"/>
                </a:solidFill>
                <a:latin typeface="Arial"/>
              </a:defRPr>
            </a:pPr>
            <a:r>
              <a:t>Writes a 2–4 sentence reply</a:t>
            </a:r>
          </a:p>
          <a:p>
            <a:pPr>
              <a:lnSpc>
                <a:spcPct val="112000"/>
              </a:lnSpc>
              <a:spcBef>
                <a:spcPts val="0"/>
              </a:spcBef>
              <a:spcAft>
                <a:spcPts val="0"/>
              </a:spcAft>
              <a:defRPr sz="1420" b="0">
                <a:solidFill>
                  <a:srgbClr val="5B6573"/>
                </a:solidFill>
                <a:latin typeface="Arial"/>
              </a:defRPr>
            </a:pPr>
            <a:r>
              <a:t>from the retrieved evidence</a:t>
            </a:r>
          </a:p>
          <a:p>
            <a:pPr>
              <a:lnSpc>
                <a:spcPct val="112000"/>
              </a:lnSpc>
              <a:spcBef>
                <a:spcPts val="0"/>
              </a:spcBef>
              <a:spcAft>
                <a:spcPts val="0"/>
              </a:spcAft>
              <a:defRPr sz="1420" b="0">
                <a:solidFill>
                  <a:srgbClr val="5B6573"/>
                </a:solidFill>
                <a:latin typeface="Arial"/>
              </a:defRPr>
            </a:pPr>
            <a:r>
              <a:t>in English, Hindi or Hinglish.</a:t>
            </a:r>
          </a:p>
        </p:txBody>
      </p:sp>
      <p:sp>
        <p:nvSpPr>
          <p:cNvPr id="31" name="TextBox 30"/>
          <p:cNvSpPr txBox="1"/>
          <p:nvPr/>
        </p:nvSpPr>
        <p:spPr>
          <a:xfrm>
            <a:off x="9116567" y="2267712"/>
            <a:ext cx="2331720" cy="201168"/>
          </a:xfrm>
          <a:prstGeom prst="rect">
            <a:avLst/>
          </a:prstGeom>
          <a:noFill/>
        </p:spPr>
        <p:txBody>
          <a:bodyPr wrap="square" lIns="0" rIns="0" tIns="0" bIns="0" anchor="t">
            <a:spAutoFit/>
          </a:bodyPr>
          <a:lstStyle/>
          <a:p>
            <a:pPr>
              <a:lnSpc>
                <a:spcPct val="112000"/>
              </a:lnSpc>
              <a:spcBef>
                <a:spcPts val="0"/>
              </a:spcBef>
              <a:spcAft>
                <a:spcPts val="0"/>
              </a:spcAft>
              <a:defRPr sz="1070" b="1">
                <a:solidFill>
                  <a:srgbClr val="12798A"/>
                </a:solidFill>
                <a:latin typeface="Arial"/>
              </a:defRPr>
            </a:pPr>
            <a:r>
              <a:t>04  CHECKED DELIVERY</a:t>
            </a:r>
          </a:p>
        </p:txBody>
      </p:sp>
      <p:sp>
        <p:nvSpPr>
          <p:cNvPr id="32" name="TextBox 31"/>
          <p:cNvSpPr txBox="1"/>
          <p:nvPr/>
        </p:nvSpPr>
        <p:spPr>
          <a:xfrm>
            <a:off x="9116567" y="2688336"/>
            <a:ext cx="2331720" cy="365760"/>
          </a:xfrm>
          <a:prstGeom prst="rect">
            <a:avLst/>
          </a:prstGeom>
          <a:noFill/>
        </p:spPr>
        <p:txBody>
          <a:bodyPr wrap="square" lIns="0" rIns="0" tIns="0" bIns="0" anchor="t">
            <a:spAutoFit/>
          </a:bodyPr>
          <a:lstStyle/>
          <a:p>
            <a:pPr>
              <a:lnSpc>
                <a:spcPct val="112000"/>
              </a:lnSpc>
              <a:spcBef>
                <a:spcPts val="0"/>
              </a:spcBef>
              <a:spcAft>
                <a:spcPts val="0"/>
              </a:spcAft>
              <a:defRPr sz="2100" b="1">
                <a:solidFill>
                  <a:srgbClr val="14222E"/>
                </a:solidFill>
                <a:latin typeface="Arial"/>
              </a:defRPr>
            </a:pPr>
            <a:r>
              <a:t>Answer + sources</a:t>
            </a:r>
          </a:p>
        </p:txBody>
      </p:sp>
      <p:sp>
        <p:nvSpPr>
          <p:cNvPr id="33" name="TextBox 32"/>
          <p:cNvSpPr txBox="1"/>
          <p:nvPr/>
        </p:nvSpPr>
        <p:spPr>
          <a:xfrm>
            <a:off x="9116567" y="3236976"/>
            <a:ext cx="2331720" cy="557784"/>
          </a:xfrm>
          <a:prstGeom prst="rect">
            <a:avLst/>
          </a:prstGeom>
          <a:noFill/>
        </p:spPr>
        <p:txBody>
          <a:bodyPr wrap="square" lIns="0" rIns="0" tIns="0" bIns="0" anchor="t">
            <a:spAutoFit/>
          </a:bodyPr>
          <a:lstStyle/>
          <a:p>
            <a:pPr>
              <a:lnSpc>
                <a:spcPct val="112000"/>
              </a:lnSpc>
              <a:spcBef>
                <a:spcPts val="0"/>
              </a:spcBef>
              <a:spcAft>
                <a:spcPts val="0"/>
              </a:spcAft>
              <a:defRPr sz="1420" b="0">
                <a:solidFill>
                  <a:srgbClr val="5B6573"/>
                </a:solidFill>
                <a:latin typeface="Arial"/>
              </a:defRPr>
            </a:pPr>
            <a:r>
              <a:t>Low evidence → no model call</a:t>
            </a:r>
          </a:p>
        </p:txBody>
      </p:sp>
      <p:sp>
        <p:nvSpPr>
          <p:cNvPr id="34" name="TextBox 33"/>
          <p:cNvSpPr txBox="1"/>
          <p:nvPr/>
        </p:nvSpPr>
        <p:spPr>
          <a:xfrm>
            <a:off x="9116567" y="3831336"/>
            <a:ext cx="2331720" cy="530352"/>
          </a:xfrm>
          <a:prstGeom prst="rect">
            <a:avLst/>
          </a:prstGeom>
          <a:noFill/>
        </p:spPr>
        <p:txBody>
          <a:bodyPr wrap="square" lIns="0" rIns="0" tIns="0" bIns="0" anchor="t">
            <a:spAutoFit/>
          </a:bodyPr>
          <a:lstStyle/>
          <a:p>
            <a:pPr>
              <a:lnSpc>
                <a:spcPct val="112000"/>
              </a:lnSpc>
              <a:spcBef>
                <a:spcPts val="0"/>
              </a:spcBef>
              <a:spcAft>
                <a:spcPts val="0"/>
              </a:spcAft>
              <a:defRPr sz="1420" b="0">
                <a:solidFill>
                  <a:srgbClr val="5B6573"/>
                </a:solidFill>
                <a:latin typeface="Arial"/>
              </a:defRPr>
            </a:pPr>
            <a:r>
              <a:t>Listed promises → rules fallback</a:t>
            </a:r>
          </a:p>
        </p:txBody>
      </p:sp>
      <p:sp>
        <p:nvSpPr>
          <p:cNvPr id="35" name="TextBox 34"/>
          <p:cNvSpPr txBox="1"/>
          <p:nvPr/>
        </p:nvSpPr>
        <p:spPr>
          <a:xfrm>
            <a:off x="9116567" y="4434840"/>
            <a:ext cx="2331720" cy="365760"/>
          </a:xfrm>
          <a:prstGeom prst="rect">
            <a:avLst/>
          </a:prstGeom>
          <a:noFill/>
        </p:spPr>
        <p:txBody>
          <a:bodyPr wrap="square" lIns="0" rIns="0" tIns="0" bIns="0" anchor="t">
            <a:spAutoFit/>
          </a:bodyPr>
          <a:lstStyle/>
          <a:p>
            <a:pPr>
              <a:lnSpc>
                <a:spcPct val="112000"/>
              </a:lnSpc>
              <a:spcBef>
                <a:spcPts val="0"/>
              </a:spcBef>
              <a:spcAft>
                <a:spcPts val="0"/>
              </a:spcAft>
              <a:defRPr sz="1320" b="1">
                <a:solidFill>
                  <a:srgbClr val="12798A"/>
                </a:solidFill>
                <a:latin typeface="Arial"/>
              </a:defRPr>
            </a:pPr>
            <a:r>
              <a:t>Official links + user feedback</a:t>
            </a:r>
          </a:p>
        </p:txBody>
      </p:sp>
      <p:sp>
        <p:nvSpPr>
          <p:cNvPr id="36" name="Chevron 35"/>
          <p:cNvSpPr/>
          <p:nvPr/>
        </p:nvSpPr>
        <p:spPr>
          <a:xfrm>
            <a:off x="3255264" y="3310128"/>
            <a:ext cx="118872" cy="201168"/>
          </a:xfrm>
          <a:prstGeom prst="chevron">
            <a:avLst/>
          </a:prstGeom>
          <a:solidFill>
            <a:srgbClr val="1279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hevron 36"/>
          <p:cNvSpPr/>
          <p:nvPr/>
        </p:nvSpPr>
        <p:spPr>
          <a:xfrm>
            <a:off x="6053328" y="3310128"/>
            <a:ext cx="118872" cy="201168"/>
          </a:xfrm>
          <a:prstGeom prst="chevron">
            <a:avLst/>
          </a:prstGeom>
          <a:solidFill>
            <a:srgbClr val="1279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hevron 37"/>
          <p:cNvSpPr/>
          <p:nvPr/>
        </p:nvSpPr>
        <p:spPr>
          <a:xfrm>
            <a:off x="8851392" y="3310128"/>
            <a:ext cx="118872" cy="201168"/>
          </a:xfrm>
          <a:prstGeom prst="chevron">
            <a:avLst/>
          </a:prstGeom>
          <a:solidFill>
            <a:srgbClr val="1279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548640" y="5230368"/>
            <a:ext cx="2807208" cy="960120"/>
          </a:xfrm>
          <a:prstGeom prst="roundRect">
            <a:avLst>
              <a:gd name="adj" fmla="val 6000"/>
            </a:avLst>
          </a:prstGeom>
          <a:solidFill>
            <a:srgbClr val="F4F6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722376" y="5376672"/>
            <a:ext cx="2459736" cy="182880"/>
          </a:xfrm>
          <a:prstGeom prst="rect">
            <a:avLst/>
          </a:prstGeom>
          <a:noFill/>
        </p:spPr>
        <p:txBody>
          <a:bodyPr wrap="square" lIns="0" rIns="0" tIns="0" bIns="0" anchor="t">
            <a:spAutoFit/>
          </a:bodyPr>
          <a:lstStyle/>
          <a:p>
            <a:pPr>
              <a:lnSpc>
                <a:spcPct val="112000"/>
              </a:lnSpc>
              <a:spcBef>
                <a:spcPts val="0"/>
              </a:spcBef>
              <a:spcAft>
                <a:spcPts val="0"/>
              </a:spcAft>
              <a:defRPr sz="1019" b="1">
                <a:solidFill>
                  <a:srgbClr val="12798A"/>
                </a:solidFill>
                <a:latin typeface="Arial"/>
              </a:defRPr>
            </a:pPr>
            <a:r>
              <a:t>WEB UI + API  ·  ONE LAPTOP</a:t>
            </a:r>
          </a:p>
        </p:txBody>
      </p:sp>
      <p:sp>
        <p:nvSpPr>
          <p:cNvPr id="41" name="TextBox 40"/>
          <p:cNvSpPr txBox="1"/>
          <p:nvPr/>
        </p:nvSpPr>
        <p:spPr>
          <a:xfrm>
            <a:off x="722376" y="5614416"/>
            <a:ext cx="2459736" cy="283464"/>
          </a:xfrm>
          <a:prstGeom prst="rect">
            <a:avLst/>
          </a:prstGeom>
          <a:noFill/>
        </p:spPr>
        <p:txBody>
          <a:bodyPr wrap="square" lIns="0" rIns="0" tIns="0" bIns="0" anchor="t">
            <a:spAutoFit/>
          </a:bodyPr>
          <a:lstStyle/>
          <a:p>
            <a:pPr>
              <a:lnSpc>
                <a:spcPct val="112000"/>
              </a:lnSpc>
              <a:spcBef>
                <a:spcPts val="0"/>
              </a:spcBef>
              <a:spcAft>
                <a:spcPts val="0"/>
              </a:spcAft>
              <a:defRPr sz="2039" b="1">
                <a:solidFill>
                  <a:srgbClr val="14222E"/>
                </a:solidFill>
                <a:latin typeface="Arial"/>
              </a:defRPr>
            </a:pPr>
            <a:r>
              <a:t>≈1.3 s per answer</a:t>
            </a:r>
          </a:p>
        </p:txBody>
      </p:sp>
      <p:sp>
        <p:nvSpPr>
          <p:cNvPr id="42" name="TextBox 41"/>
          <p:cNvSpPr txBox="1"/>
          <p:nvPr/>
        </p:nvSpPr>
        <p:spPr>
          <a:xfrm>
            <a:off x="722376" y="5952744"/>
            <a:ext cx="2459736" cy="173736"/>
          </a:xfrm>
          <a:prstGeom prst="rect">
            <a:avLst/>
          </a:prstGeom>
          <a:noFill/>
        </p:spPr>
        <p:txBody>
          <a:bodyPr wrap="square" lIns="0" rIns="0" tIns="0" bIns="0" anchor="t">
            <a:spAutoFit/>
          </a:bodyPr>
          <a:lstStyle/>
          <a:p>
            <a:pPr>
              <a:lnSpc>
                <a:spcPct val="112000"/>
              </a:lnSpc>
              <a:spcBef>
                <a:spcPts val="0"/>
              </a:spcBef>
              <a:spcAft>
                <a:spcPts val="0"/>
              </a:spcAft>
              <a:defRPr sz="1019" b="0">
                <a:solidFill>
                  <a:srgbClr val="5B6573"/>
                </a:solidFill>
                <a:latin typeface="Arial"/>
              </a:defRPr>
            </a:pPr>
            <a:r>
              <a:t>Apple M5, 16 GB  ·  54-scheme test</a:t>
            </a:r>
          </a:p>
        </p:txBody>
      </p:sp>
      <p:sp>
        <p:nvSpPr>
          <p:cNvPr id="43" name="Rounded Rectangle 42"/>
          <p:cNvSpPr/>
          <p:nvPr/>
        </p:nvSpPr>
        <p:spPr>
          <a:xfrm>
            <a:off x="3520440" y="5230368"/>
            <a:ext cx="4160520" cy="960120"/>
          </a:xfrm>
          <a:prstGeom prst="roundRect">
            <a:avLst>
              <a:gd name="adj" fmla="val 6000"/>
            </a:avLst>
          </a:prstGeom>
          <a:solidFill>
            <a:srgbClr val="F4F6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3694176" y="5376672"/>
            <a:ext cx="3813048" cy="182880"/>
          </a:xfrm>
          <a:prstGeom prst="rect">
            <a:avLst/>
          </a:prstGeom>
          <a:noFill/>
        </p:spPr>
        <p:txBody>
          <a:bodyPr wrap="square" lIns="0" rIns="0" tIns="0" bIns="0" anchor="t">
            <a:spAutoFit/>
          </a:bodyPr>
          <a:lstStyle/>
          <a:p>
            <a:pPr>
              <a:lnSpc>
                <a:spcPct val="112000"/>
              </a:lnSpc>
              <a:spcBef>
                <a:spcPts val="0"/>
              </a:spcBef>
              <a:spcAft>
                <a:spcPts val="0"/>
              </a:spcAft>
              <a:defRPr sz="1019" b="1">
                <a:solidFill>
                  <a:srgbClr val="12798A"/>
                </a:solidFill>
                <a:latin typeface="Arial"/>
              </a:defRPr>
            </a:pPr>
            <a:r>
              <a:t>AUDIT FOUNDATION  ·  JANSANKHYA</a:t>
            </a:r>
          </a:p>
        </p:txBody>
      </p:sp>
      <p:sp>
        <p:nvSpPr>
          <p:cNvPr id="45" name="TextBox 44"/>
          <p:cNvSpPr txBox="1"/>
          <p:nvPr/>
        </p:nvSpPr>
        <p:spPr>
          <a:xfrm>
            <a:off x="3694176" y="5632704"/>
            <a:ext cx="3813048" cy="274320"/>
          </a:xfrm>
          <a:prstGeom prst="rect">
            <a:avLst/>
          </a:prstGeom>
          <a:noFill/>
        </p:spPr>
        <p:txBody>
          <a:bodyPr wrap="square" lIns="0" rIns="0" tIns="0" bIns="0" anchor="t">
            <a:spAutoFit/>
          </a:bodyPr>
          <a:lstStyle/>
          <a:p>
            <a:pPr>
              <a:lnSpc>
                <a:spcPct val="112000"/>
              </a:lnSpc>
              <a:spcBef>
                <a:spcPts val="0"/>
              </a:spcBef>
              <a:spcAft>
                <a:spcPts val="0"/>
              </a:spcAft>
              <a:defRPr sz="1710" b="1">
                <a:solidFill>
                  <a:srgbClr val="14222E"/>
                </a:solidFill>
                <a:latin typeface="Arial"/>
              </a:defRPr>
            </a:pPr>
            <a:r>
              <a:t>10,000 synthetic worker profiles</a:t>
            </a:r>
          </a:p>
        </p:txBody>
      </p:sp>
      <p:sp>
        <p:nvSpPr>
          <p:cNvPr id="46" name="TextBox 45"/>
          <p:cNvSpPr txBox="1"/>
          <p:nvPr/>
        </p:nvSpPr>
        <p:spPr>
          <a:xfrm>
            <a:off x="3694176" y="5961888"/>
            <a:ext cx="3813048" cy="173736"/>
          </a:xfrm>
          <a:prstGeom prst="rect">
            <a:avLst/>
          </a:prstGeom>
          <a:noFill/>
        </p:spPr>
        <p:txBody>
          <a:bodyPr wrap="square" lIns="0" rIns="0" tIns="0" bIns="0" anchor="t">
            <a:spAutoFit/>
          </a:bodyPr>
          <a:lstStyle/>
          <a:p>
            <a:pPr>
              <a:lnSpc>
                <a:spcPct val="112000"/>
              </a:lnSpc>
              <a:spcBef>
                <a:spcPts val="0"/>
              </a:spcBef>
              <a:spcAft>
                <a:spcPts val="0"/>
              </a:spcAft>
              <a:defRPr sz="1120" b="0">
                <a:solidFill>
                  <a:srgbClr val="5B6573"/>
                </a:solidFill>
                <a:latin typeface="Arial"/>
              </a:defRPr>
            </a:pPr>
            <a:r>
              <a:t>Available for the earlier profile-based audit.</a:t>
            </a:r>
          </a:p>
        </p:txBody>
      </p:sp>
      <p:sp>
        <p:nvSpPr>
          <p:cNvPr id="47" name="Rounded Rectangle 46"/>
          <p:cNvSpPr/>
          <p:nvPr/>
        </p:nvSpPr>
        <p:spPr>
          <a:xfrm>
            <a:off x="7845552" y="5230368"/>
            <a:ext cx="3794760" cy="960120"/>
          </a:xfrm>
          <a:prstGeom prst="roundRect">
            <a:avLst>
              <a:gd name="adj" fmla="val 6000"/>
            </a:avLst>
          </a:prstGeom>
          <a:solidFill>
            <a:srgbClr val="FBEFD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8019288" y="5376672"/>
            <a:ext cx="3447288" cy="182880"/>
          </a:xfrm>
          <a:prstGeom prst="rect">
            <a:avLst/>
          </a:prstGeom>
          <a:noFill/>
        </p:spPr>
        <p:txBody>
          <a:bodyPr wrap="square" lIns="0" rIns="0" tIns="0" bIns="0" anchor="t">
            <a:spAutoFit/>
          </a:bodyPr>
          <a:lstStyle/>
          <a:p>
            <a:pPr>
              <a:lnSpc>
                <a:spcPct val="112000"/>
              </a:lnSpc>
              <a:spcBef>
                <a:spcPts val="0"/>
              </a:spcBef>
              <a:spcAft>
                <a:spcPts val="0"/>
              </a:spcAft>
              <a:defRPr sz="1019" b="1">
                <a:solidFill>
                  <a:srgbClr val="9A6412"/>
                </a:solidFill>
                <a:latin typeface="Arial"/>
              </a:defRPr>
            </a:pPr>
            <a:r>
              <a:t>CURRENT SAFETY LIMIT</a:t>
            </a:r>
          </a:p>
        </p:txBody>
      </p:sp>
      <p:sp>
        <p:nvSpPr>
          <p:cNvPr id="49" name="TextBox 48"/>
          <p:cNvSpPr txBox="1"/>
          <p:nvPr/>
        </p:nvSpPr>
        <p:spPr>
          <a:xfrm>
            <a:off x="8019288" y="5650992"/>
            <a:ext cx="3447288" cy="429768"/>
          </a:xfrm>
          <a:prstGeom prst="rect">
            <a:avLst/>
          </a:prstGeom>
          <a:noFill/>
        </p:spPr>
        <p:txBody>
          <a:bodyPr wrap="square" lIns="0" rIns="0" tIns="0" bIns="0" anchor="t">
            <a:spAutoFit/>
          </a:bodyPr>
          <a:lstStyle/>
          <a:p>
            <a:pPr>
              <a:lnSpc>
                <a:spcPct val="112000"/>
              </a:lnSpc>
              <a:spcBef>
                <a:spcPts val="0"/>
              </a:spcBef>
              <a:spcAft>
                <a:spcPts val="0"/>
              </a:spcAft>
              <a:defRPr sz="1420" b="1">
                <a:solidFill>
                  <a:srgbClr val="14222E"/>
                </a:solidFill>
                <a:latin typeface="Arial"/>
              </a:defRPr>
            </a:pPr>
            <a:r>
              <a:t>The guard checks promises; it does not</a:t>
            </a:r>
          </a:p>
          <a:p>
            <a:pPr>
              <a:lnSpc>
                <a:spcPct val="112000"/>
              </a:lnSpc>
              <a:spcBef>
                <a:spcPts val="0"/>
              </a:spcBef>
              <a:spcAft>
                <a:spcPts val="0"/>
              </a:spcAft>
              <a:defRPr sz="1420" b="1">
                <a:solidFill>
                  <a:srgbClr val="14222E"/>
                </a:solidFill>
                <a:latin typeface="Arial"/>
              </a:defRPr>
            </a:pPr>
            <a:r>
              <a:t>verify numeric eligibility.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48640" y="365760"/>
            <a:ext cx="3703320" cy="320040"/>
          </a:xfrm>
          <a:prstGeom prst="roundRect">
            <a:avLst>
              <a:gd name="adj" fmla="val 6000"/>
            </a:avLst>
          </a:prstGeom>
          <a:solidFill>
            <a:srgbClr val="E4F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94944" y="427939"/>
            <a:ext cx="3410712" cy="182880"/>
          </a:xfrm>
          <a:prstGeom prst="rect">
            <a:avLst/>
          </a:prstGeom>
          <a:noFill/>
        </p:spPr>
        <p:txBody>
          <a:bodyPr wrap="square" lIns="0" rIns="0" tIns="0" bIns="0" anchor="t">
            <a:spAutoFit/>
          </a:bodyPr>
          <a:lstStyle/>
          <a:p>
            <a:pPr>
              <a:lnSpc>
                <a:spcPct val="112000"/>
              </a:lnSpc>
              <a:spcBef>
                <a:spcPts val="0"/>
              </a:spcBef>
              <a:spcAft>
                <a:spcPts val="0"/>
              </a:spcAft>
              <a:defRPr sz="1019" b="1">
                <a:solidFill>
                  <a:srgbClr val="12798A"/>
                </a:solidFill>
                <a:latin typeface="Arial"/>
              </a:defRPr>
            </a:pPr>
            <a:r>
              <a:t>PERFORMANCE  ·  TRACE IMPROVEMENTS</a:t>
            </a:r>
          </a:p>
        </p:txBody>
      </p:sp>
      <p:sp>
        <p:nvSpPr>
          <p:cNvPr id="4" name="TextBox 3"/>
          <p:cNvSpPr txBox="1"/>
          <p:nvPr/>
        </p:nvSpPr>
        <p:spPr>
          <a:xfrm>
            <a:off x="548640" y="877824"/>
            <a:ext cx="11091672" cy="512064"/>
          </a:xfrm>
          <a:prstGeom prst="rect">
            <a:avLst/>
          </a:prstGeom>
          <a:noFill/>
        </p:spPr>
        <p:txBody>
          <a:bodyPr wrap="square" lIns="0" rIns="0" tIns="0" bIns="0" anchor="t">
            <a:spAutoFit/>
          </a:bodyPr>
          <a:lstStyle/>
          <a:p>
            <a:pPr>
              <a:lnSpc>
                <a:spcPct val="112000"/>
              </a:lnSpc>
              <a:spcBef>
                <a:spcPts val="0"/>
              </a:spcBef>
              <a:spcAft>
                <a:spcPts val="0"/>
              </a:spcAft>
              <a:defRPr sz="2950" b="1">
                <a:solidFill>
                  <a:srgbClr val="14222E"/>
                </a:solidFill>
                <a:latin typeface="Arial"/>
              </a:defRPr>
            </a:pPr>
            <a:r>
              <a:t>What TRACE changed—and how performance improved</a:t>
            </a:r>
          </a:p>
        </p:txBody>
      </p:sp>
      <p:sp>
        <p:nvSpPr>
          <p:cNvPr id="5" name="TextBox 4"/>
          <p:cNvSpPr txBox="1"/>
          <p:nvPr/>
        </p:nvSpPr>
        <p:spPr>
          <a:xfrm>
            <a:off x="548640" y="1453896"/>
            <a:ext cx="11091672" cy="356616"/>
          </a:xfrm>
          <a:prstGeom prst="rect">
            <a:avLst/>
          </a:prstGeom>
          <a:noFill/>
        </p:spPr>
        <p:txBody>
          <a:bodyPr wrap="square" lIns="0" rIns="0" tIns="0" bIns="0" anchor="t">
            <a:spAutoFit/>
          </a:bodyPr>
          <a:lstStyle/>
          <a:p>
            <a:pPr>
              <a:lnSpc>
                <a:spcPct val="112000"/>
              </a:lnSpc>
              <a:spcBef>
                <a:spcPts val="0"/>
              </a:spcBef>
              <a:spcAft>
                <a:spcPts val="0"/>
              </a:spcAft>
              <a:defRPr sz="1500" b="0">
                <a:solidFill>
                  <a:srgbClr val="5B6573"/>
                </a:solidFill>
                <a:latin typeface="Arial"/>
              </a:defRPr>
            </a:pPr>
            <a:r>
              <a:t>Earlier audit: 500 cases / 2 schemes     •     Current pipeline: 764 held-out questions / 54 schemes</a:t>
            </a:r>
          </a:p>
        </p:txBody>
      </p:sp>
      <p:sp>
        <p:nvSpPr>
          <p:cNvPr id="6" name="Rectangle 5"/>
          <p:cNvSpPr/>
          <p:nvPr/>
        </p:nvSpPr>
        <p:spPr>
          <a:xfrm>
            <a:off x="548640" y="6437376"/>
            <a:ext cx="11091672" cy="10972"/>
          </a:xfrm>
          <a:prstGeom prst="rect">
            <a:avLst/>
          </a:prstGeom>
          <a:solidFill>
            <a:srgbClr val="DDE4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48640" y="6528816"/>
            <a:ext cx="10698480" cy="164592"/>
          </a:xfrm>
          <a:prstGeom prst="rect">
            <a:avLst/>
          </a:prstGeom>
          <a:noFill/>
        </p:spPr>
        <p:txBody>
          <a:bodyPr wrap="square" lIns="0" rIns="0" tIns="0" bIns="0" anchor="t">
            <a:spAutoFit/>
          </a:bodyPr>
          <a:lstStyle/>
          <a:p>
            <a:pPr>
              <a:lnSpc>
                <a:spcPct val="112000"/>
              </a:lnSpc>
              <a:spcBef>
                <a:spcPts val="0"/>
              </a:spcBef>
              <a:spcAft>
                <a:spcPts val="0"/>
              </a:spcAft>
              <a:defRPr sz="880" b="0">
                <a:solidFill>
                  <a:srgbClr val="5B6573"/>
                </a:solidFill>
                <a:latin typeface="Arial"/>
              </a:defRPr>
            </a:pPr>
            <a:r>
              <a:t>TRACE = SYNALIGN  •  Current implementation and saved evaluations  •  Sources and methodology in speaker notes</a:t>
            </a:r>
          </a:p>
        </p:txBody>
      </p:sp>
      <p:sp>
        <p:nvSpPr>
          <p:cNvPr id="8" name="TextBox 7"/>
          <p:cNvSpPr txBox="1"/>
          <p:nvPr/>
        </p:nvSpPr>
        <p:spPr>
          <a:xfrm>
            <a:off x="11183112" y="6492240"/>
            <a:ext cx="457200" cy="228600"/>
          </a:xfrm>
          <a:prstGeom prst="rect">
            <a:avLst/>
          </a:prstGeom>
          <a:noFill/>
        </p:spPr>
        <p:txBody>
          <a:bodyPr wrap="square" lIns="0" rIns="0" tIns="0" bIns="0" anchor="t">
            <a:spAutoFit/>
          </a:bodyPr>
          <a:lstStyle/>
          <a:p>
            <a:pPr algn="r">
              <a:lnSpc>
                <a:spcPct val="112000"/>
              </a:lnSpc>
              <a:spcBef>
                <a:spcPts val="0"/>
              </a:spcBef>
              <a:spcAft>
                <a:spcPts val="0"/>
              </a:spcAft>
              <a:defRPr sz="1100" b="1">
                <a:solidFill>
                  <a:srgbClr val="12798A"/>
                </a:solidFill>
                <a:latin typeface="Arial"/>
              </a:defRPr>
            </a:pPr>
            <a:r>
              <a:t>02</a:t>
            </a:r>
          </a:p>
        </p:txBody>
      </p:sp>
      <p:sp>
        <p:nvSpPr>
          <p:cNvPr id="9" name="TextBox 8"/>
          <p:cNvSpPr txBox="1"/>
          <p:nvPr/>
        </p:nvSpPr>
        <p:spPr>
          <a:xfrm>
            <a:off x="548640" y="1993392"/>
            <a:ext cx="6446520" cy="310896"/>
          </a:xfrm>
          <a:prstGeom prst="rect">
            <a:avLst/>
          </a:prstGeom>
          <a:noFill/>
        </p:spPr>
        <p:txBody>
          <a:bodyPr wrap="square" lIns="0" rIns="0" tIns="0" bIns="0" anchor="t">
            <a:spAutoFit/>
          </a:bodyPr>
          <a:lstStyle/>
          <a:p>
            <a:pPr>
              <a:lnSpc>
                <a:spcPct val="112000"/>
              </a:lnSpc>
              <a:spcBef>
                <a:spcPts val="0"/>
              </a:spcBef>
              <a:spcAft>
                <a:spcPts val="0"/>
              </a:spcAft>
              <a:defRPr sz="1800" b="1">
                <a:solidFill>
                  <a:srgbClr val="14222E"/>
                </a:solidFill>
                <a:latin typeface="Arial"/>
              </a:defRPr>
            </a:pPr>
            <a:r>
              <a:t>Earlier models → TRACE interventions</a:t>
            </a:r>
          </a:p>
        </p:txBody>
      </p:sp>
      <p:sp>
        <p:nvSpPr>
          <p:cNvPr id="10" name="Rounded Rectangle 9"/>
          <p:cNvSpPr/>
          <p:nvPr/>
        </p:nvSpPr>
        <p:spPr>
          <a:xfrm>
            <a:off x="548640" y="2432304"/>
            <a:ext cx="6446520" cy="530352"/>
          </a:xfrm>
          <a:prstGeom prst="roundRect">
            <a:avLst>
              <a:gd name="adj" fmla="val 6000"/>
            </a:avLst>
          </a:prstGeom>
          <a:solidFill>
            <a:srgbClr val="F4F6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94944" y="2523744"/>
            <a:ext cx="6153912" cy="164592"/>
          </a:xfrm>
          <a:prstGeom prst="rect">
            <a:avLst/>
          </a:prstGeom>
          <a:noFill/>
        </p:spPr>
        <p:txBody>
          <a:bodyPr wrap="square" lIns="0" rIns="0" tIns="0" bIns="0" anchor="t">
            <a:spAutoFit/>
          </a:bodyPr>
          <a:lstStyle/>
          <a:p>
            <a:pPr>
              <a:lnSpc>
                <a:spcPct val="112000"/>
              </a:lnSpc>
              <a:spcBef>
                <a:spcPts val="0"/>
              </a:spcBef>
              <a:spcAft>
                <a:spcPts val="0"/>
              </a:spcAft>
              <a:defRPr sz="950" b="1">
                <a:solidFill>
                  <a:srgbClr val="5B6573"/>
                </a:solidFill>
                <a:latin typeface="Arial"/>
              </a:defRPr>
            </a:pPr>
            <a:r>
              <a:t>ORIGINAL MODEL PASS RATES  ·  ORIGINAL SCORER</a:t>
            </a:r>
          </a:p>
        </p:txBody>
      </p:sp>
      <p:sp>
        <p:nvSpPr>
          <p:cNvPr id="12" name="TextBox 11"/>
          <p:cNvSpPr txBox="1"/>
          <p:nvPr/>
        </p:nvSpPr>
        <p:spPr>
          <a:xfrm>
            <a:off x="694944" y="2734056"/>
            <a:ext cx="6153912" cy="192024"/>
          </a:xfrm>
          <a:prstGeom prst="rect">
            <a:avLst/>
          </a:prstGeom>
          <a:noFill/>
        </p:spPr>
        <p:txBody>
          <a:bodyPr wrap="square" lIns="0" rIns="0" tIns="0" bIns="0" anchor="t">
            <a:spAutoFit/>
          </a:bodyPr>
          <a:lstStyle/>
          <a:p>
            <a:pPr>
              <a:lnSpc>
                <a:spcPct val="112000"/>
              </a:lnSpc>
              <a:spcBef>
                <a:spcPts val="0"/>
              </a:spcBef>
              <a:spcAft>
                <a:spcPts val="0"/>
              </a:spcAft>
              <a:defRPr sz="1210" b="1">
                <a:solidFill>
                  <a:srgbClr val="14222E"/>
                </a:solidFill>
                <a:latin typeface="Arial"/>
              </a:defRPr>
            </a:pPr>
            <a:r>
              <a:t>Qwen3 0.6B: 10.2%   ·   Gemma 1B: 22.2%   ·   Qwen3.5 0.8B: 27.2%</a:t>
            </a:r>
          </a:p>
        </p:txBody>
      </p:sp>
      <p:sp>
        <p:nvSpPr>
          <p:cNvPr id="13" name="TextBox 12"/>
          <p:cNvSpPr txBox="1"/>
          <p:nvPr/>
        </p:nvSpPr>
        <p:spPr>
          <a:xfrm>
            <a:off x="548640" y="3136392"/>
            <a:ext cx="4709160" cy="219456"/>
          </a:xfrm>
          <a:prstGeom prst="rect">
            <a:avLst/>
          </a:prstGeom>
          <a:noFill/>
        </p:spPr>
        <p:txBody>
          <a:bodyPr wrap="square" lIns="0" rIns="0" tIns="0" bIns="0" anchor="t">
            <a:spAutoFit/>
          </a:bodyPr>
          <a:lstStyle/>
          <a:p>
            <a:pPr>
              <a:lnSpc>
                <a:spcPct val="112000"/>
              </a:lnSpc>
              <a:spcBef>
                <a:spcPts val="0"/>
              </a:spcBef>
              <a:spcAft>
                <a:spcPts val="0"/>
              </a:spcAft>
              <a:defRPr sz="1170" b="1">
                <a:solidFill>
                  <a:srgbClr val="12798A"/>
                </a:solidFill>
                <a:latin typeface="Arial"/>
              </a:defRPr>
            </a:pPr>
            <a:r>
              <a:t>Qwen3.5 variants below use the same corrected scorer</a:t>
            </a:r>
          </a:p>
        </p:txBody>
      </p:sp>
      <p:sp>
        <p:nvSpPr>
          <p:cNvPr id="14" name="TextBox 13"/>
          <p:cNvSpPr txBox="1"/>
          <p:nvPr/>
        </p:nvSpPr>
        <p:spPr>
          <a:xfrm>
            <a:off x="4700016" y="3136392"/>
            <a:ext cx="850392" cy="228600"/>
          </a:xfrm>
          <a:prstGeom prst="rect">
            <a:avLst/>
          </a:prstGeom>
          <a:noFill/>
        </p:spPr>
        <p:txBody>
          <a:bodyPr wrap="square" lIns="0" rIns="0" tIns="0" bIns="0" anchor="t">
            <a:spAutoFit/>
          </a:bodyPr>
          <a:lstStyle/>
          <a:p>
            <a:pPr algn="r">
              <a:lnSpc>
                <a:spcPct val="112000"/>
              </a:lnSpc>
              <a:spcBef>
                <a:spcPts val="0"/>
              </a:spcBef>
              <a:spcAft>
                <a:spcPts val="0"/>
              </a:spcAft>
              <a:defRPr sz="1050" b="1">
                <a:solidFill>
                  <a:srgbClr val="5B6573"/>
                </a:solidFill>
                <a:latin typeface="Arial"/>
              </a:defRPr>
            </a:pPr>
            <a:r>
              <a:t>Pass rate</a:t>
            </a:r>
          </a:p>
        </p:txBody>
      </p:sp>
      <p:sp>
        <p:nvSpPr>
          <p:cNvPr id="15" name="TextBox 14"/>
          <p:cNvSpPr txBox="1"/>
          <p:nvPr/>
        </p:nvSpPr>
        <p:spPr>
          <a:xfrm>
            <a:off x="5769864" y="3136392"/>
            <a:ext cx="1106424" cy="274320"/>
          </a:xfrm>
          <a:prstGeom prst="rect">
            <a:avLst/>
          </a:prstGeom>
          <a:noFill/>
        </p:spPr>
        <p:txBody>
          <a:bodyPr wrap="square" lIns="0" rIns="0" tIns="0" bIns="0" anchor="t">
            <a:spAutoFit/>
          </a:bodyPr>
          <a:lstStyle/>
          <a:p>
            <a:pPr algn="r">
              <a:lnSpc>
                <a:spcPct val="112000"/>
              </a:lnSpc>
              <a:spcBef>
                <a:spcPts val="0"/>
              </a:spcBef>
              <a:spcAft>
                <a:spcPts val="0"/>
              </a:spcAft>
              <a:defRPr sz="950" b="1">
                <a:solidFill>
                  <a:srgbClr val="5B6573"/>
                </a:solidFill>
                <a:latin typeface="Arial"/>
              </a:defRPr>
            </a:pPr>
            <a:r>
              <a:t>Safety violations</a:t>
            </a:r>
          </a:p>
        </p:txBody>
      </p:sp>
      <p:sp>
        <p:nvSpPr>
          <p:cNvPr id="16" name="TextBox 15"/>
          <p:cNvSpPr txBox="1"/>
          <p:nvPr/>
        </p:nvSpPr>
        <p:spPr>
          <a:xfrm>
            <a:off x="658368" y="3557016"/>
            <a:ext cx="2816352" cy="228600"/>
          </a:xfrm>
          <a:prstGeom prst="rect">
            <a:avLst/>
          </a:prstGeom>
          <a:noFill/>
        </p:spPr>
        <p:txBody>
          <a:bodyPr wrap="square" lIns="0" rIns="0" tIns="0" bIns="0" anchor="t">
            <a:spAutoFit/>
          </a:bodyPr>
          <a:lstStyle/>
          <a:p>
            <a:pPr>
              <a:lnSpc>
                <a:spcPct val="112000"/>
              </a:lnSpc>
              <a:spcBef>
                <a:spcPts val="0"/>
              </a:spcBef>
              <a:spcAft>
                <a:spcPts val="0"/>
              </a:spcAft>
              <a:defRPr sz="1270" b="0">
                <a:solidFill>
                  <a:srgbClr val="14222E"/>
                </a:solidFill>
                <a:latin typeface="Arial"/>
              </a:defRPr>
            </a:pPr>
            <a:r>
              <a:t>Model + retrieved text</a:t>
            </a:r>
          </a:p>
        </p:txBody>
      </p:sp>
      <p:sp>
        <p:nvSpPr>
          <p:cNvPr id="17" name="Rectangle 16"/>
          <p:cNvSpPr/>
          <p:nvPr/>
        </p:nvSpPr>
        <p:spPr>
          <a:xfrm>
            <a:off x="3493008" y="3579876"/>
            <a:ext cx="1152144" cy="173736"/>
          </a:xfrm>
          <a:prstGeom prst="rect">
            <a:avLst/>
          </a:prstGeom>
          <a:solidFill>
            <a:srgbClr val="F4F6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3493008" y="3579876"/>
            <a:ext cx="329513" cy="173736"/>
          </a:xfrm>
          <a:prstGeom prst="rect">
            <a:avLst/>
          </a:prstGeom>
          <a:solidFill>
            <a:srgbClr val="A8B8C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4736592" y="3550615"/>
            <a:ext cx="813816" cy="256032"/>
          </a:xfrm>
          <a:prstGeom prst="rect">
            <a:avLst/>
          </a:prstGeom>
          <a:noFill/>
        </p:spPr>
        <p:txBody>
          <a:bodyPr wrap="square" lIns="0" rIns="0" tIns="0" bIns="0" anchor="t">
            <a:spAutoFit/>
          </a:bodyPr>
          <a:lstStyle/>
          <a:p>
            <a:pPr algn="r">
              <a:lnSpc>
                <a:spcPct val="112000"/>
              </a:lnSpc>
              <a:spcBef>
                <a:spcPts val="0"/>
              </a:spcBef>
              <a:spcAft>
                <a:spcPts val="0"/>
              </a:spcAft>
              <a:defRPr sz="1400" b="0">
                <a:solidFill>
                  <a:srgbClr val="14222E"/>
                </a:solidFill>
                <a:latin typeface="Arial"/>
              </a:defRPr>
            </a:pPr>
            <a:r>
              <a:t>28.6%</a:t>
            </a:r>
          </a:p>
        </p:txBody>
      </p:sp>
      <p:sp>
        <p:nvSpPr>
          <p:cNvPr id="20" name="TextBox 19"/>
          <p:cNvSpPr txBox="1"/>
          <p:nvPr/>
        </p:nvSpPr>
        <p:spPr>
          <a:xfrm>
            <a:off x="5833872" y="3550615"/>
            <a:ext cx="1005840" cy="256032"/>
          </a:xfrm>
          <a:prstGeom prst="rect">
            <a:avLst/>
          </a:prstGeom>
          <a:noFill/>
        </p:spPr>
        <p:txBody>
          <a:bodyPr wrap="square" lIns="0" rIns="0" tIns="0" bIns="0" anchor="t">
            <a:spAutoFit/>
          </a:bodyPr>
          <a:lstStyle/>
          <a:p>
            <a:pPr algn="r">
              <a:lnSpc>
                <a:spcPct val="112000"/>
              </a:lnSpc>
              <a:spcBef>
                <a:spcPts val="0"/>
              </a:spcBef>
              <a:spcAft>
                <a:spcPts val="0"/>
              </a:spcAft>
              <a:defRPr sz="1400" b="0">
                <a:solidFill>
                  <a:srgbClr val="14222E"/>
                </a:solidFill>
                <a:latin typeface="Arial"/>
              </a:defRPr>
            </a:pPr>
            <a:r>
              <a:t>304</a:t>
            </a:r>
          </a:p>
        </p:txBody>
      </p:sp>
      <p:sp>
        <p:nvSpPr>
          <p:cNvPr id="21" name="TextBox 20"/>
          <p:cNvSpPr txBox="1"/>
          <p:nvPr/>
        </p:nvSpPr>
        <p:spPr>
          <a:xfrm>
            <a:off x="658368" y="3968496"/>
            <a:ext cx="2816352" cy="228600"/>
          </a:xfrm>
          <a:prstGeom prst="rect">
            <a:avLst/>
          </a:prstGeom>
          <a:noFill/>
        </p:spPr>
        <p:txBody>
          <a:bodyPr wrap="square" lIns="0" rIns="0" tIns="0" bIns="0" anchor="t">
            <a:spAutoFit/>
          </a:bodyPr>
          <a:lstStyle/>
          <a:p>
            <a:pPr>
              <a:lnSpc>
                <a:spcPct val="112000"/>
              </a:lnSpc>
              <a:spcBef>
                <a:spcPts val="0"/>
              </a:spcBef>
              <a:spcAft>
                <a:spcPts val="0"/>
              </a:spcAft>
              <a:defRPr sz="1270" b="0">
                <a:solidFill>
                  <a:srgbClr val="14222E"/>
                </a:solidFill>
                <a:latin typeface="Arial"/>
              </a:defRPr>
            </a:pPr>
            <a:r>
              <a:t>TRACE: router + rule checks</a:t>
            </a:r>
          </a:p>
        </p:txBody>
      </p:sp>
      <p:sp>
        <p:nvSpPr>
          <p:cNvPr id="22" name="Rectangle 21"/>
          <p:cNvSpPr/>
          <p:nvPr/>
        </p:nvSpPr>
        <p:spPr>
          <a:xfrm>
            <a:off x="3493008" y="3991356"/>
            <a:ext cx="1152144" cy="173736"/>
          </a:xfrm>
          <a:prstGeom prst="rect">
            <a:avLst/>
          </a:prstGeom>
          <a:solidFill>
            <a:srgbClr val="F4F6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3493008" y="3991356"/>
            <a:ext cx="555333" cy="173736"/>
          </a:xfrm>
          <a:prstGeom prst="rect">
            <a:avLst/>
          </a:prstGeom>
          <a:solidFill>
            <a:srgbClr val="12798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4736592" y="3962095"/>
            <a:ext cx="813816" cy="256032"/>
          </a:xfrm>
          <a:prstGeom prst="rect">
            <a:avLst/>
          </a:prstGeom>
          <a:noFill/>
        </p:spPr>
        <p:txBody>
          <a:bodyPr wrap="square" lIns="0" rIns="0" tIns="0" bIns="0" anchor="t">
            <a:spAutoFit/>
          </a:bodyPr>
          <a:lstStyle/>
          <a:p>
            <a:pPr algn="r">
              <a:lnSpc>
                <a:spcPct val="112000"/>
              </a:lnSpc>
              <a:spcBef>
                <a:spcPts val="0"/>
              </a:spcBef>
              <a:spcAft>
                <a:spcPts val="0"/>
              </a:spcAft>
              <a:defRPr sz="1400" b="0">
                <a:solidFill>
                  <a:srgbClr val="14222E"/>
                </a:solidFill>
                <a:latin typeface="Arial"/>
              </a:defRPr>
            </a:pPr>
            <a:r>
              <a:t>48.2%</a:t>
            </a:r>
          </a:p>
        </p:txBody>
      </p:sp>
      <p:sp>
        <p:nvSpPr>
          <p:cNvPr id="25" name="TextBox 24"/>
          <p:cNvSpPr txBox="1"/>
          <p:nvPr/>
        </p:nvSpPr>
        <p:spPr>
          <a:xfrm>
            <a:off x="5833872" y="3962095"/>
            <a:ext cx="1005840" cy="256032"/>
          </a:xfrm>
          <a:prstGeom prst="rect">
            <a:avLst/>
          </a:prstGeom>
          <a:noFill/>
        </p:spPr>
        <p:txBody>
          <a:bodyPr wrap="square" lIns="0" rIns="0" tIns="0" bIns="0" anchor="t">
            <a:spAutoFit/>
          </a:bodyPr>
          <a:lstStyle/>
          <a:p>
            <a:pPr algn="r">
              <a:lnSpc>
                <a:spcPct val="112000"/>
              </a:lnSpc>
              <a:spcBef>
                <a:spcPts val="0"/>
              </a:spcBef>
              <a:spcAft>
                <a:spcPts val="0"/>
              </a:spcAft>
              <a:defRPr sz="1400" b="0">
                <a:solidFill>
                  <a:srgbClr val="14222E"/>
                </a:solidFill>
                <a:latin typeface="Arial"/>
              </a:defRPr>
            </a:pPr>
            <a:r>
              <a:t>146</a:t>
            </a:r>
          </a:p>
        </p:txBody>
      </p:sp>
      <p:sp>
        <p:nvSpPr>
          <p:cNvPr id="26" name="Rounded Rectangle 25"/>
          <p:cNvSpPr/>
          <p:nvPr/>
        </p:nvSpPr>
        <p:spPr>
          <a:xfrm>
            <a:off x="548640" y="4334256"/>
            <a:ext cx="6446520" cy="365760"/>
          </a:xfrm>
          <a:prstGeom prst="roundRect">
            <a:avLst>
              <a:gd name="adj" fmla="val 6000"/>
            </a:avLst>
          </a:prstGeom>
          <a:solidFill>
            <a:srgbClr val="E3F2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658368" y="4379976"/>
            <a:ext cx="2816352" cy="228600"/>
          </a:xfrm>
          <a:prstGeom prst="rect">
            <a:avLst/>
          </a:prstGeom>
          <a:noFill/>
        </p:spPr>
        <p:txBody>
          <a:bodyPr wrap="square" lIns="0" rIns="0" tIns="0" bIns="0" anchor="t">
            <a:spAutoFit/>
          </a:bodyPr>
          <a:lstStyle/>
          <a:p>
            <a:pPr>
              <a:lnSpc>
                <a:spcPct val="112000"/>
              </a:lnSpc>
              <a:spcBef>
                <a:spcPts val="0"/>
              </a:spcBef>
              <a:spcAft>
                <a:spcPts val="0"/>
              </a:spcAft>
              <a:defRPr sz="1270" b="1">
                <a:solidFill>
                  <a:srgbClr val="14222E"/>
                </a:solidFill>
                <a:latin typeface="Arial"/>
              </a:defRPr>
            </a:pPr>
            <a:r>
              <a:t>TRACE: rule triggering fixed</a:t>
            </a:r>
          </a:p>
        </p:txBody>
      </p:sp>
      <p:sp>
        <p:nvSpPr>
          <p:cNvPr id="28" name="Rectangle 27"/>
          <p:cNvSpPr/>
          <p:nvPr/>
        </p:nvSpPr>
        <p:spPr>
          <a:xfrm>
            <a:off x="3493008" y="4402836"/>
            <a:ext cx="1152144" cy="173736"/>
          </a:xfrm>
          <a:prstGeom prst="rect">
            <a:avLst/>
          </a:prstGeom>
          <a:solidFill>
            <a:srgbClr val="F4F6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3493008" y="4402836"/>
            <a:ext cx="1122188" cy="173736"/>
          </a:xfrm>
          <a:prstGeom prst="rect">
            <a:avLst/>
          </a:prstGeom>
          <a:solidFill>
            <a:srgbClr val="1E9E7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736592" y="4373575"/>
            <a:ext cx="813816" cy="256032"/>
          </a:xfrm>
          <a:prstGeom prst="rect">
            <a:avLst/>
          </a:prstGeom>
          <a:noFill/>
        </p:spPr>
        <p:txBody>
          <a:bodyPr wrap="square" lIns="0" rIns="0" tIns="0" bIns="0" anchor="t">
            <a:spAutoFit/>
          </a:bodyPr>
          <a:lstStyle/>
          <a:p>
            <a:pPr algn="r">
              <a:lnSpc>
                <a:spcPct val="112000"/>
              </a:lnSpc>
              <a:spcBef>
                <a:spcPts val="0"/>
              </a:spcBef>
              <a:spcAft>
                <a:spcPts val="0"/>
              </a:spcAft>
              <a:defRPr sz="1400" b="1">
                <a:solidFill>
                  <a:srgbClr val="1E9E72"/>
                </a:solidFill>
                <a:latin typeface="Arial"/>
              </a:defRPr>
            </a:pPr>
            <a:r>
              <a:t>97.4%</a:t>
            </a:r>
          </a:p>
        </p:txBody>
      </p:sp>
      <p:sp>
        <p:nvSpPr>
          <p:cNvPr id="31" name="TextBox 30"/>
          <p:cNvSpPr txBox="1"/>
          <p:nvPr/>
        </p:nvSpPr>
        <p:spPr>
          <a:xfrm>
            <a:off x="5833872" y="4373575"/>
            <a:ext cx="1005840" cy="256032"/>
          </a:xfrm>
          <a:prstGeom prst="rect">
            <a:avLst/>
          </a:prstGeom>
          <a:noFill/>
        </p:spPr>
        <p:txBody>
          <a:bodyPr wrap="square" lIns="0" rIns="0" tIns="0" bIns="0" anchor="t">
            <a:spAutoFit/>
          </a:bodyPr>
          <a:lstStyle/>
          <a:p>
            <a:pPr algn="r">
              <a:lnSpc>
                <a:spcPct val="112000"/>
              </a:lnSpc>
              <a:spcBef>
                <a:spcPts val="0"/>
              </a:spcBef>
              <a:spcAft>
                <a:spcPts val="0"/>
              </a:spcAft>
              <a:defRPr sz="1400" b="1">
                <a:solidFill>
                  <a:srgbClr val="1E9E72"/>
                </a:solidFill>
                <a:latin typeface="Arial"/>
              </a:defRPr>
            </a:pPr>
            <a:r>
              <a:t>0</a:t>
            </a:r>
          </a:p>
        </p:txBody>
      </p:sp>
      <p:sp>
        <p:nvSpPr>
          <p:cNvPr id="32" name="TextBox 31"/>
          <p:cNvSpPr txBox="1"/>
          <p:nvPr/>
        </p:nvSpPr>
        <p:spPr>
          <a:xfrm>
            <a:off x="658368" y="4791456"/>
            <a:ext cx="2816352" cy="228600"/>
          </a:xfrm>
          <a:prstGeom prst="rect">
            <a:avLst/>
          </a:prstGeom>
          <a:noFill/>
        </p:spPr>
        <p:txBody>
          <a:bodyPr wrap="square" lIns="0" rIns="0" tIns="0" bIns="0" anchor="t">
            <a:spAutoFit/>
          </a:bodyPr>
          <a:lstStyle/>
          <a:p>
            <a:pPr>
              <a:lnSpc>
                <a:spcPct val="112000"/>
              </a:lnSpc>
              <a:spcBef>
                <a:spcPts val="0"/>
              </a:spcBef>
              <a:spcAft>
                <a:spcPts val="0"/>
              </a:spcAft>
              <a:defRPr sz="1270" b="0">
                <a:solidFill>
                  <a:srgbClr val="14222E"/>
                </a:solidFill>
                <a:latin typeface="Arial"/>
              </a:defRPr>
            </a:pPr>
            <a:r>
              <a:t>LoRA-trained variant</a:t>
            </a:r>
          </a:p>
        </p:txBody>
      </p:sp>
      <p:sp>
        <p:nvSpPr>
          <p:cNvPr id="33" name="Rectangle 32"/>
          <p:cNvSpPr/>
          <p:nvPr/>
        </p:nvSpPr>
        <p:spPr>
          <a:xfrm>
            <a:off x="3493008" y="4814316"/>
            <a:ext cx="1152144" cy="173736"/>
          </a:xfrm>
          <a:prstGeom prst="rect">
            <a:avLst/>
          </a:prstGeom>
          <a:solidFill>
            <a:srgbClr val="F4F6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Rectangle 33"/>
          <p:cNvSpPr/>
          <p:nvPr/>
        </p:nvSpPr>
        <p:spPr>
          <a:xfrm>
            <a:off x="3493008" y="4814316"/>
            <a:ext cx="771936" cy="173736"/>
          </a:xfrm>
          <a:prstGeom prst="rect">
            <a:avLst/>
          </a:prstGeom>
          <a:solidFill>
            <a:srgbClr val="12798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4736592" y="4785055"/>
            <a:ext cx="813816" cy="256032"/>
          </a:xfrm>
          <a:prstGeom prst="rect">
            <a:avLst/>
          </a:prstGeom>
          <a:noFill/>
        </p:spPr>
        <p:txBody>
          <a:bodyPr wrap="square" lIns="0" rIns="0" tIns="0" bIns="0" anchor="t">
            <a:spAutoFit/>
          </a:bodyPr>
          <a:lstStyle/>
          <a:p>
            <a:pPr algn="r">
              <a:lnSpc>
                <a:spcPct val="112000"/>
              </a:lnSpc>
              <a:spcBef>
                <a:spcPts val="0"/>
              </a:spcBef>
              <a:spcAft>
                <a:spcPts val="0"/>
              </a:spcAft>
              <a:defRPr sz="1400" b="0">
                <a:solidFill>
                  <a:srgbClr val="14222E"/>
                </a:solidFill>
                <a:latin typeface="Arial"/>
              </a:defRPr>
            </a:pPr>
            <a:r>
              <a:t>67.0%</a:t>
            </a:r>
          </a:p>
        </p:txBody>
      </p:sp>
      <p:sp>
        <p:nvSpPr>
          <p:cNvPr id="36" name="TextBox 35"/>
          <p:cNvSpPr txBox="1"/>
          <p:nvPr/>
        </p:nvSpPr>
        <p:spPr>
          <a:xfrm>
            <a:off x="5833872" y="4785055"/>
            <a:ext cx="1005840" cy="256032"/>
          </a:xfrm>
          <a:prstGeom prst="rect">
            <a:avLst/>
          </a:prstGeom>
          <a:noFill/>
        </p:spPr>
        <p:txBody>
          <a:bodyPr wrap="square" lIns="0" rIns="0" tIns="0" bIns="0" anchor="t">
            <a:spAutoFit/>
          </a:bodyPr>
          <a:lstStyle/>
          <a:p>
            <a:pPr algn="r">
              <a:lnSpc>
                <a:spcPct val="112000"/>
              </a:lnSpc>
              <a:spcBef>
                <a:spcPts val="0"/>
              </a:spcBef>
              <a:spcAft>
                <a:spcPts val="0"/>
              </a:spcAft>
              <a:defRPr sz="1400" b="0">
                <a:solidFill>
                  <a:srgbClr val="14222E"/>
                </a:solidFill>
                <a:latin typeface="Arial"/>
              </a:defRPr>
            </a:pPr>
            <a:r>
              <a:t>0</a:t>
            </a:r>
          </a:p>
        </p:txBody>
      </p:sp>
      <p:sp>
        <p:nvSpPr>
          <p:cNvPr id="37" name="TextBox 36"/>
          <p:cNvSpPr txBox="1"/>
          <p:nvPr/>
        </p:nvSpPr>
        <p:spPr>
          <a:xfrm>
            <a:off x="658368" y="5266944"/>
            <a:ext cx="6236208" cy="402336"/>
          </a:xfrm>
          <a:prstGeom prst="rect">
            <a:avLst/>
          </a:prstGeom>
          <a:noFill/>
        </p:spPr>
        <p:txBody>
          <a:bodyPr wrap="square" lIns="0" rIns="0" tIns="0" bIns="0" anchor="t">
            <a:spAutoFit/>
          </a:bodyPr>
          <a:lstStyle/>
          <a:p>
            <a:pPr>
              <a:lnSpc>
                <a:spcPct val="112000"/>
              </a:lnSpc>
              <a:spcBef>
                <a:spcPts val="0"/>
              </a:spcBef>
              <a:spcAft>
                <a:spcPts val="0"/>
              </a:spcAft>
              <a:defRPr sz="1250" b="1">
                <a:solidFill>
                  <a:srgbClr val="12798A"/>
                </a:solidFill>
                <a:latin typeface="Arial"/>
              </a:defRPr>
            </a:pPr>
            <a:r>
              <a:t>Why it improved: code computes and templates eligibility answers;</a:t>
            </a:r>
          </a:p>
          <a:p>
            <a:pPr>
              <a:lnSpc>
                <a:spcPct val="112000"/>
              </a:lnSpc>
              <a:spcBef>
                <a:spcPts val="0"/>
              </a:spcBef>
              <a:spcAft>
                <a:spcPts val="0"/>
              </a:spcAft>
              <a:defRPr sz="1250" b="1">
                <a:solidFill>
                  <a:srgbClr val="12798A"/>
                </a:solidFill>
                <a:latin typeface="Arial"/>
              </a:defRPr>
            </a:pPr>
            <a:r>
              <a:t>the model is bypassed for those questions.</a:t>
            </a:r>
          </a:p>
        </p:txBody>
      </p:sp>
      <p:sp>
        <p:nvSpPr>
          <p:cNvPr id="38" name="Rounded Rectangle 37"/>
          <p:cNvSpPr/>
          <p:nvPr/>
        </p:nvSpPr>
        <p:spPr>
          <a:xfrm>
            <a:off x="7232904" y="1993392"/>
            <a:ext cx="4407408" cy="3602736"/>
          </a:xfrm>
          <a:prstGeom prst="roundRect">
            <a:avLst>
              <a:gd name="adj" fmla="val 6000"/>
            </a:avLst>
          </a:prstGeom>
          <a:solidFill>
            <a:srgbClr val="E4F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7443216" y="2185416"/>
            <a:ext cx="3986784" cy="292608"/>
          </a:xfrm>
          <a:prstGeom prst="rect">
            <a:avLst/>
          </a:prstGeom>
          <a:noFill/>
        </p:spPr>
        <p:txBody>
          <a:bodyPr wrap="square" lIns="0" rIns="0" tIns="0" bIns="0" anchor="t">
            <a:spAutoFit/>
          </a:bodyPr>
          <a:lstStyle/>
          <a:p>
            <a:pPr>
              <a:lnSpc>
                <a:spcPct val="112000"/>
              </a:lnSpc>
              <a:spcBef>
                <a:spcPts val="0"/>
              </a:spcBef>
              <a:spcAft>
                <a:spcPts val="0"/>
              </a:spcAft>
              <a:defRPr sz="1780" b="1">
                <a:solidFill>
                  <a:srgbClr val="14222E"/>
                </a:solidFill>
                <a:latin typeface="Arial"/>
              </a:defRPr>
            </a:pPr>
            <a:r>
              <a:t>Current pipeline: 54 schemes</a:t>
            </a:r>
          </a:p>
        </p:txBody>
      </p:sp>
      <p:sp>
        <p:nvSpPr>
          <p:cNvPr id="40" name="TextBox 39"/>
          <p:cNvSpPr txBox="1"/>
          <p:nvPr/>
        </p:nvSpPr>
        <p:spPr>
          <a:xfrm>
            <a:off x="7443216" y="2596896"/>
            <a:ext cx="3986784" cy="219456"/>
          </a:xfrm>
          <a:prstGeom prst="rect">
            <a:avLst/>
          </a:prstGeom>
          <a:noFill/>
        </p:spPr>
        <p:txBody>
          <a:bodyPr wrap="square" lIns="0" rIns="0" tIns="0" bIns="0" anchor="t">
            <a:spAutoFit/>
          </a:bodyPr>
          <a:lstStyle/>
          <a:p>
            <a:pPr>
              <a:lnSpc>
                <a:spcPct val="112000"/>
              </a:lnSpc>
              <a:spcBef>
                <a:spcPts val="0"/>
              </a:spcBef>
              <a:spcAft>
                <a:spcPts val="0"/>
              </a:spcAft>
              <a:defRPr sz="1150" b="0">
                <a:solidFill>
                  <a:srgbClr val="5B6573"/>
                </a:solidFill>
                <a:latin typeface="Arial"/>
              </a:defRPr>
            </a:pPr>
            <a:r>
              <a:t>Qwen3.5-0.8B  ·  held-out answer accuracy</a:t>
            </a:r>
          </a:p>
        </p:txBody>
      </p:sp>
      <p:sp>
        <p:nvSpPr>
          <p:cNvPr id="41" name="TextBox 40"/>
          <p:cNvSpPr txBox="1"/>
          <p:nvPr/>
        </p:nvSpPr>
        <p:spPr>
          <a:xfrm>
            <a:off x="7443216" y="2971800"/>
            <a:ext cx="2926080" cy="265176"/>
          </a:xfrm>
          <a:prstGeom prst="rect">
            <a:avLst/>
          </a:prstGeom>
          <a:noFill/>
        </p:spPr>
        <p:txBody>
          <a:bodyPr wrap="square" lIns="0" rIns="0" tIns="0" bIns="0" anchor="t">
            <a:spAutoFit/>
          </a:bodyPr>
          <a:lstStyle/>
          <a:p>
            <a:pPr>
              <a:lnSpc>
                <a:spcPct val="112000"/>
              </a:lnSpc>
              <a:spcBef>
                <a:spcPts val="0"/>
              </a:spcBef>
              <a:spcAft>
                <a:spcPts val="0"/>
              </a:spcAft>
              <a:defRPr sz="1400" b="0">
                <a:solidFill>
                  <a:srgbClr val="14222E"/>
                </a:solidFill>
                <a:latin typeface="Arial"/>
              </a:defRPr>
            </a:pPr>
            <a:r>
              <a:t>Model alone</a:t>
            </a:r>
          </a:p>
        </p:txBody>
      </p:sp>
      <p:sp>
        <p:nvSpPr>
          <p:cNvPr id="42" name="TextBox 41"/>
          <p:cNvSpPr txBox="1"/>
          <p:nvPr/>
        </p:nvSpPr>
        <p:spPr>
          <a:xfrm>
            <a:off x="10570464" y="2962656"/>
            <a:ext cx="841248" cy="274320"/>
          </a:xfrm>
          <a:prstGeom prst="rect">
            <a:avLst/>
          </a:prstGeom>
          <a:noFill/>
        </p:spPr>
        <p:txBody>
          <a:bodyPr wrap="square" lIns="0" rIns="0" tIns="0" bIns="0" anchor="t">
            <a:spAutoFit/>
          </a:bodyPr>
          <a:lstStyle/>
          <a:p>
            <a:pPr algn="r">
              <a:lnSpc>
                <a:spcPct val="112000"/>
              </a:lnSpc>
              <a:spcBef>
                <a:spcPts val="0"/>
              </a:spcBef>
              <a:spcAft>
                <a:spcPts val="0"/>
              </a:spcAft>
              <a:defRPr sz="1600" b="0">
                <a:solidFill>
                  <a:srgbClr val="14222E"/>
                </a:solidFill>
                <a:latin typeface="Arial"/>
              </a:defRPr>
            </a:pPr>
            <a:r>
              <a:t>17.2%</a:t>
            </a:r>
          </a:p>
        </p:txBody>
      </p:sp>
      <p:sp>
        <p:nvSpPr>
          <p:cNvPr id="43" name="TextBox 42"/>
          <p:cNvSpPr txBox="1"/>
          <p:nvPr/>
        </p:nvSpPr>
        <p:spPr>
          <a:xfrm>
            <a:off x="7443216" y="3364992"/>
            <a:ext cx="2926080" cy="265176"/>
          </a:xfrm>
          <a:prstGeom prst="rect">
            <a:avLst/>
          </a:prstGeom>
          <a:noFill/>
        </p:spPr>
        <p:txBody>
          <a:bodyPr wrap="square" lIns="0" rIns="0" tIns="0" bIns="0" anchor="t">
            <a:spAutoFit/>
          </a:bodyPr>
          <a:lstStyle/>
          <a:p>
            <a:pPr>
              <a:lnSpc>
                <a:spcPct val="112000"/>
              </a:lnSpc>
              <a:spcBef>
                <a:spcPts val="0"/>
              </a:spcBef>
              <a:spcAft>
                <a:spcPts val="0"/>
              </a:spcAft>
              <a:defRPr sz="1400" b="0">
                <a:solidFill>
                  <a:srgbClr val="14222E"/>
                </a:solidFill>
                <a:latin typeface="Arial"/>
              </a:defRPr>
            </a:pPr>
            <a:r>
              <a:t>Old search + model</a:t>
            </a:r>
          </a:p>
        </p:txBody>
      </p:sp>
      <p:sp>
        <p:nvSpPr>
          <p:cNvPr id="44" name="TextBox 43"/>
          <p:cNvSpPr txBox="1"/>
          <p:nvPr/>
        </p:nvSpPr>
        <p:spPr>
          <a:xfrm>
            <a:off x="10570464" y="3355848"/>
            <a:ext cx="841248" cy="274320"/>
          </a:xfrm>
          <a:prstGeom prst="rect">
            <a:avLst/>
          </a:prstGeom>
          <a:noFill/>
        </p:spPr>
        <p:txBody>
          <a:bodyPr wrap="square" lIns="0" rIns="0" tIns="0" bIns="0" anchor="t">
            <a:spAutoFit/>
          </a:bodyPr>
          <a:lstStyle/>
          <a:p>
            <a:pPr algn="r">
              <a:lnSpc>
                <a:spcPct val="112000"/>
              </a:lnSpc>
              <a:spcBef>
                <a:spcPts val="0"/>
              </a:spcBef>
              <a:spcAft>
                <a:spcPts val="0"/>
              </a:spcAft>
              <a:defRPr sz="1600" b="0">
                <a:solidFill>
                  <a:srgbClr val="14222E"/>
                </a:solidFill>
                <a:latin typeface="Arial"/>
              </a:defRPr>
            </a:pPr>
            <a:r>
              <a:t>61.7%</a:t>
            </a:r>
          </a:p>
        </p:txBody>
      </p:sp>
      <p:sp>
        <p:nvSpPr>
          <p:cNvPr id="45" name="TextBox 44"/>
          <p:cNvSpPr txBox="1"/>
          <p:nvPr/>
        </p:nvSpPr>
        <p:spPr>
          <a:xfrm>
            <a:off x="7443216" y="3758184"/>
            <a:ext cx="2926080" cy="265176"/>
          </a:xfrm>
          <a:prstGeom prst="rect">
            <a:avLst/>
          </a:prstGeom>
          <a:noFill/>
        </p:spPr>
        <p:txBody>
          <a:bodyPr wrap="square" lIns="0" rIns="0" tIns="0" bIns="0" anchor="t">
            <a:spAutoFit/>
          </a:bodyPr>
          <a:lstStyle/>
          <a:p>
            <a:pPr>
              <a:lnSpc>
                <a:spcPct val="112000"/>
              </a:lnSpc>
              <a:spcBef>
                <a:spcPts val="0"/>
              </a:spcBef>
              <a:spcAft>
                <a:spcPts val="0"/>
              </a:spcAft>
              <a:defRPr sz="1400" b="0">
                <a:solidFill>
                  <a:srgbClr val="14222E"/>
                </a:solidFill>
                <a:latin typeface="Arial"/>
              </a:defRPr>
            </a:pPr>
            <a:r>
              <a:t>Meaning search + model</a:t>
            </a:r>
          </a:p>
        </p:txBody>
      </p:sp>
      <p:sp>
        <p:nvSpPr>
          <p:cNvPr id="46" name="TextBox 45"/>
          <p:cNvSpPr txBox="1"/>
          <p:nvPr/>
        </p:nvSpPr>
        <p:spPr>
          <a:xfrm>
            <a:off x="10570464" y="3749040"/>
            <a:ext cx="841248" cy="274320"/>
          </a:xfrm>
          <a:prstGeom prst="rect">
            <a:avLst/>
          </a:prstGeom>
          <a:noFill/>
        </p:spPr>
        <p:txBody>
          <a:bodyPr wrap="square" lIns="0" rIns="0" tIns="0" bIns="0" anchor="t">
            <a:spAutoFit/>
          </a:bodyPr>
          <a:lstStyle/>
          <a:p>
            <a:pPr algn="r">
              <a:lnSpc>
                <a:spcPct val="112000"/>
              </a:lnSpc>
              <a:spcBef>
                <a:spcPts val="0"/>
              </a:spcBef>
              <a:spcAft>
                <a:spcPts val="0"/>
              </a:spcAft>
              <a:defRPr sz="1600" b="0">
                <a:solidFill>
                  <a:srgbClr val="14222E"/>
                </a:solidFill>
                <a:latin typeface="Arial"/>
              </a:defRPr>
            </a:pPr>
            <a:r>
              <a:t>77.9%</a:t>
            </a:r>
          </a:p>
        </p:txBody>
      </p:sp>
      <p:sp>
        <p:nvSpPr>
          <p:cNvPr id="47" name="TextBox 46"/>
          <p:cNvSpPr txBox="1"/>
          <p:nvPr/>
        </p:nvSpPr>
        <p:spPr>
          <a:xfrm>
            <a:off x="7443216" y="4151376"/>
            <a:ext cx="2926080" cy="265176"/>
          </a:xfrm>
          <a:prstGeom prst="rect">
            <a:avLst/>
          </a:prstGeom>
          <a:noFill/>
        </p:spPr>
        <p:txBody>
          <a:bodyPr wrap="square" lIns="0" rIns="0" tIns="0" bIns="0" anchor="t">
            <a:spAutoFit/>
          </a:bodyPr>
          <a:lstStyle/>
          <a:p>
            <a:pPr>
              <a:lnSpc>
                <a:spcPct val="112000"/>
              </a:lnSpc>
              <a:spcBef>
                <a:spcPts val="0"/>
              </a:spcBef>
              <a:spcAft>
                <a:spcPts val="0"/>
              </a:spcAft>
              <a:defRPr sz="1400" b="1">
                <a:solidFill>
                  <a:srgbClr val="14222E"/>
                </a:solidFill>
                <a:latin typeface="Arial"/>
              </a:defRPr>
            </a:pPr>
            <a:r>
              <a:t>Full TRACE pipeline</a:t>
            </a:r>
          </a:p>
        </p:txBody>
      </p:sp>
      <p:sp>
        <p:nvSpPr>
          <p:cNvPr id="48" name="TextBox 47"/>
          <p:cNvSpPr txBox="1"/>
          <p:nvPr/>
        </p:nvSpPr>
        <p:spPr>
          <a:xfrm>
            <a:off x="10570464" y="4142232"/>
            <a:ext cx="841248" cy="274320"/>
          </a:xfrm>
          <a:prstGeom prst="rect">
            <a:avLst/>
          </a:prstGeom>
          <a:noFill/>
        </p:spPr>
        <p:txBody>
          <a:bodyPr wrap="square" lIns="0" rIns="0" tIns="0" bIns="0" anchor="t">
            <a:spAutoFit/>
          </a:bodyPr>
          <a:lstStyle/>
          <a:p>
            <a:pPr algn="r">
              <a:lnSpc>
                <a:spcPct val="112000"/>
              </a:lnSpc>
              <a:spcBef>
                <a:spcPts val="0"/>
              </a:spcBef>
              <a:spcAft>
                <a:spcPts val="0"/>
              </a:spcAft>
              <a:defRPr sz="1600" b="1">
                <a:solidFill>
                  <a:srgbClr val="1E9E72"/>
                </a:solidFill>
                <a:latin typeface="Arial"/>
              </a:defRPr>
            </a:pPr>
            <a:r>
              <a:t>76.4%</a:t>
            </a:r>
          </a:p>
        </p:txBody>
      </p:sp>
      <p:sp>
        <p:nvSpPr>
          <p:cNvPr id="49" name="Rectangle 48"/>
          <p:cNvSpPr/>
          <p:nvPr/>
        </p:nvSpPr>
        <p:spPr>
          <a:xfrm>
            <a:off x="7443216" y="4572000"/>
            <a:ext cx="3986784" cy="13716"/>
          </a:xfrm>
          <a:prstGeom prst="rect">
            <a:avLst/>
          </a:prstGeom>
          <a:solidFill>
            <a:srgbClr val="C7DDE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7443216" y="4736592"/>
            <a:ext cx="3986784" cy="246888"/>
          </a:xfrm>
          <a:prstGeom prst="rect">
            <a:avLst/>
          </a:prstGeom>
          <a:noFill/>
        </p:spPr>
        <p:txBody>
          <a:bodyPr wrap="square" lIns="0" rIns="0" tIns="0" bIns="0" anchor="t">
            <a:spAutoFit/>
          </a:bodyPr>
          <a:lstStyle/>
          <a:p>
            <a:pPr>
              <a:lnSpc>
                <a:spcPct val="112000"/>
              </a:lnSpc>
              <a:spcBef>
                <a:spcPts val="0"/>
              </a:spcBef>
              <a:spcAft>
                <a:spcPts val="0"/>
              </a:spcAft>
              <a:defRPr sz="1520" b="1">
                <a:solidFill>
                  <a:srgbClr val="12798A"/>
                </a:solidFill>
                <a:latin typeface="Arial"/>
              </a:defRPr>
            </a:pPr>
            <a:r>
              <a:t>+14.8 points over old search</a:t>
            </a:r>
          </a:p>
        </p:txBody>
      </p:sp>
      <p:sp>
        <p:nvSpPr>
          <p:cNvPr id="51" name="TextBox 50"/>
          <p:cNvSpPr txBox="1"/>
          <p:nvPr/>
        </p:nvSpPr>
        <p:spPr>
          <a:xfrm>
            <a:off x="7443216" y="5029200"/>
            <a:ext cx="3986784" cy="210312"/>
          </a:xfrm>
          <a:prstGeom prst="rect">
            <a:avLst/>
          </a:prstGeom>
          <a:noFill/>
        </p:spPr>
        <p:txBody>
          <a:bodyPr wrap="square" lIns="0" rIns="0" tIns="0" bIns="0" anchor="t">
            <a:spAutoFit/>
          </a:bodyPr>
          <a:lstStyle/>
          <a:p>
            <a:pPr>
              <a:lnSpc>
                <a:spcPct val="112000"/>
              </a:lnSpc>
              <a:spcBef>
                <a:spcPts val="0"/>
              </a:spcBef>
              <a:spcAft>
                <a:spcPts val="0"/>
              </a:spcAft>
              <a:defRPr sz="1190" b="0">
                <a:solidFill>
                  <a:srgbClr val="5B6573"/>
                </a:solidFill>
                <a:latin typeface="Arial"/>
              </a:defRPr>
            </a:pPr>
            <a:r>
              <a:t>95% interval: +11.0 to +18.9 points</a:t>
            </a:r>
          </a:p>
        </p:txBody>
      </p:sp>
      <p:sp>
        <p:nvSpPr>
          <p:cNvPr id="52" name="TextBox 51"/>
          <p:cNvSpPr txBox="1"/>
          <p:nvPr/>
        </p:nvSpPr>
        <p:spPr>
          <a:xfrm>
            <a:off x="7443216" y="5349240"/>
            <a:ext cx="3986784" cy="192024"/>
          </a:xfrm>
          <a:prstGeom prst="rect">
            <a:avLst/>
          </a:prstGeom>
          <a:noFill/>
        </p:spPr>
        <p:txBody>
          <a:bodyPr wrap="square" lIns="0" rIns="0" tIns="0" bIns="0" anchor="t">
            <a:spAutoFit/>
          </a:bodyPr>
          <a:lstStyle/>
          <a:p>
            <a:pPr>
              <a:lnSpc>
                <a:spcPct val="112000"/>
              </a:lnSpc>
              <a:spcBef>
                <a:spcPts val="0"/>
              </a:spcBef>
              <a:spcAft>
                <a:spcPts val="0"/>
              </a:spcAft>
              <a:defRPr sz="1180" b="1">
                <a:solidFill>
                  <a:srgbClr val="12798A"/>
                </a:solidFill>
                <a:latin typeface="Arial"/>
              </a:defRPr>
            </a:pPr>
            <a:r>
              <a:t>One change → 316 dev tests → keep or undo</a:t>
            </a:r>
          </a:p>
        </p:txBody>
      </p:sp>
      <p:sp>
        <p:nvSpPr>
          <p:cNvPr id="53" name="Rounded Rectangle 52"/>
          <p:cNvSpPr/>
          <p:nvPr/>
        </p:nvSpPr>
        <p:spPr>
          <a:xfrm>
            <a:off x="548640" y="5852160"/>
            <a:ext cx="6446520" cy="438912"/>
          </a:xfrm>
          <a:prstGeom prst="roundRect">
            <a:avLst>
              <a:gd name="adj" fmla="val 6000"/>
            </a:avLst>
          </a:prstGeom>
          <a:solidFill>
            <a:srgbClr val="E3F2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704088" y="5961888"/>
            <a:ext cx="6135624" cy="228600"/>
          </a:xfrm>
          <a:prstGeom prst="rect">
            <a:avLst/>
          </a:prstGeom>
          <a:noFill/>
        </p:spPr>
        <p:txBody>
          <a:bodyPr wrap="square" lIns="0" rIns="0" tIns="0" bIns="0" anchor="t">
            <a:spAutoFit/>
          </a:bodyPr>
          <a:lstStyle/>
          <a:p>
            <a:pPr>
              <a:lnSpc>
                <a:spcPct val="112000"/>
              </a:lnSpc>
              <a:spcBef>
                <a:spcPts val="0"/>
              </a:spcBef>
              <a:spcAft>
                <a:spcPts val="0"/>
              </a:spcAft>
              <a:defRPr sz="1600" b="1">
                <a:solidFill>
                  <a:srgbClr val="1E9E72"/>
                </a:solidFill>
                <a:latin typeface="Arial"/>
              </a:defRPr>
            </a:pPr>
            <a:r>
              <a:t>Earlier system: +68.8 points  ·  safety violations 304 → 0</a:t>
            </a:r>
          </a:p>
        </p:txBody>
      </p:sp>
      <p:sp>
        <p:nvSpPr>
          <p:cNvPr id="55" name="Rounded Rectangle 54"/>
          <p:cNvSpPr/>
          <p:nvPr/>
        </p:nvSpPr>
        <p:spPr>
          <a:xfrm>
            <a:off x="7232904" y="5852160"/>
            <a:ext cx="4407408" cy="438912"/>
          </a:xfrm>
          <a:prstGeom prst="roundRect">
            <a:avLst>
              <a:gd name="adj" fmla="val 6000"/>
            </a:avLst>
          </a:prstGeom>
          <a:solidFill>
            <a:srgbClr val="F4F6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7406640" y="5943600"/>
            <a:ext cx="4059936" cy="265176"/>
          </a:xfrm>
          <a:prstGeom prst="rect">
            <a:avLst/>
          </a:prstGeom>
          <a:noFill/>
        </p:spPr>
        <p:txBody>
          <a:bodyPr wrap="square" lIns="0" rIns="0" tIns="0" bIns="0" anchor="t">
            <a:spAutoFit/>
          </a:bodyPr>
          <a:lstStyle/>
          <a:p>
            <a:pPr>
              <a:lnSpc>
                <a:spcPct val="112000"/>
              </a:lnSpc>
              <a:spcBef>
                <a:spcPts val="0"/>
              </a:spcBef>
              <a:spcAft>
                <a:spcPts val="0"/>
              </a:spcAft>
              <a:defRPr sz="1180" b="1">
                <a:solidFill>
                  <a:srgbClr val="12798A"/>
                </a:solidFill>
                <a:latin typeface="Arial"/>
              </a:defRPr>
            </a:pPr>
            <a:r>
              <a:t>Scale test: 78.1% on 648 named-scheme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TRACE — Current System and Evaluation</dc:title>
  <dc:subject>Two-slide overview of the current SYNALIGN build, presented as TRACE</dc:subject>
  <dc:creator/>
  <cp:keywords>TRACE, SYNALIGN, scheme assistant, local models, evaluation</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