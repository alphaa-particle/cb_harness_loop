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BUILD — PRESENTED AS TRACE</a:t>
            </a:r>
          </a:p>
          <a:p>
            <a:r>
              <a:t>The user calls SYNALIGN TRACE in the presentation. In the current repository, Scheme Helper is the local multilingual assistant, and SYNALIGN is the test bench and change-evaluation framework around it. This slide presents them together as TRACE.</a:t>
            </a:r>
          </a:p>
          <a:p/>
          <a:p>
            <a:r>
              <a:t>Knowledge: 54 central scheme YAML records become 286 sections (overview, rules, benefits, applications, documents). Each section has provenance links to official sources. 34 records are verified; 20 need review. This is not a claim that all source facts were independently verified. Source: README.md, "The scheme data".</a:t>
            </a:r>
          </a:p>
          <a:p/>
          <a:p>
            <a:r>
              <a:t>Inference: Hindi/Hinglish glossary expansion applies to lexical searches. BM25, character TF-IDF and Qwen3-Embedding-0.6B rankings are merged using weighted reciprocal-rank fusion (weights .25, .25, 1.0; RRF k=20; depth=50). Semantic similarity below .50 returns no evidence and does not call the answer model. The maximum context is three sections, each selected scheme's eligibility rules first. Sources: synalign/domains/india_schemes/eval_config.yaml; synalign/engine/retriever.py.</a:t>
            </a:r>
          </a:p>
          <a:p/>
          <a:p>
            <a:r>
              <a:t>Model: Qwen3.5-0.8B-Q8_0.gguf writes a 2–4 sentence response in the question's language from supplied evidence. Embedding model: Qwen3-Embedding-0.6B-Q8_0.gguf. Both run locally in llama.cpp. Greedy decoding, fixed seed, thinking disabled, no prompt cache. Model file sizes reported in README: 834 MB and 639 MB. The measured 54-scheme full-pipeline answer time is 1.332 seconds per answer; ~1.3 seconds is a rounded experimental measurement on an Apple M5 (16 GB), not a service guarantee.</a:t>
            </a:r>
          </a:p>
          <a:p/>
          <a:p>
            <a:r>
              <a:t>Delivery: ResponseGuard detects listed forbidden promise phrases and replaces the response with source rules. The web UI shows evidence sections and official links. The API exposes search, context, ask and feedback; feedback stays local. The guard does not compute or verify eligibility and did not fire in the saved current tests. This differs from the earlier two-scheme rule-driven demonstration. Sources: README.md, synalign/engine/enforcement.py, synalign/README.md.</a:t>
            </a:r>
          </a:p>
          <a:p/>
          <a:p>
            <a:r>
              <a:t>Jansankhya: the retained file contains 10,000 synthetic informal-worker profiles, generated from IHDS-II-based CTGAN work. It remains usable as input to the earlier welfare_demo profile audit. It is not the source of the current 1,080-question evaluation. Its known coverage and wage-vintage limitations mean it must not be presented as a fully representative current population. Source: jansankhya/README.md.</a:t>
            </a:r>
          </a:p>
          <a:p/>
          <a:p>
            <a:r>
              <a:t>All paths above are relative to the supplied project /Users/vaibhav_joshi/Desktop/cb_harness_loop. This deck was authored from the current local implementation and saved reports; no new inference or training was performed.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EVALUATION AND IMPROVEMENT LOOP</a:t>
            </a:r>
          </a:p>
          <a:p>
            <a:r>
              <a:t>The current evaluation contains 1,080 fact-grounded questions in English (545), Hindi (332), and Hindi in Latin script (203). Categories: facts, typos, situations without a scheme name, eligibility boundary questions, absent schemes, and off-topic questions. Split by scheme: 18 development schemes / 316 questions; 36 held-out schemes / 764 questions. The current test set is independent of the earlier 500-case synthetic-profile audit in the supplied reference deck.</a:t>
            </a:r>
          </a:p>
          <a:p/>
          <a:p>
            <a:r>
              <a:t>Metric: answer correctness is a task-specific rules-based grade: correct value for facts, correct scheme for situation questions, correct opening yes/no for eligibility, and refusal for unanswerable questions. It is not the older weighted 0.75 pass-score metric. Confidence intervals resample whole schemes; paired comparisons use the same questions. Questions and some language content were machine-drafted; this is an offline benchmark, not a real-user trial.</a:t>
            </a:r>
          </a:p>
          <a:p/>
          <a:p>
            <a:r>
              <a:t>Chart source: synalign/data/evaluation/india_schemes/test_final/report.json, answers.*.correct.all. Model alone 17.15%, old search 61.65%, meaning search 77.88%, fusion 76.44% (displayed rounded to one decimal). Confidence intervals are rounded to integer percentages. Old search is character TF-IDF, with the same rules-first assembly and glossary; meaning search uses the embedding model only; fusion merges all three searches. Paired fusion minus old_search: +14.79 percentage points, 95% CI +11.00 to +18.88. Paired fusion minus meaning: -1.44 points, 95% CI -3.22 to +0.27. No clear difference at 54 schemes. The fusion default was selected on dev for the larger target catalogue.</a:t>
            </a:r>
          </a:p>
          <a:p/>
          <a:p>
            <a:r>
              <a:t>Failure analysis: an oracle condition supplies the right evidence directly. It reaches 81.5% correctness on 720 answerable held-out questions (not all 764; unanswerable questions are excluded). On those same questions, oracle beats fusion by 5.56 points, 95% CI +2.83 to +8.41. Remaining errors include numerical eligibility comparisons in Hindi and naming the appropriate scheme from a situation. This isolates search limitations from generation limitations; 81.5% is an experimental reference condition, not a guaranteed ceiling on every task.</a:t>
            </a:r>
          </a:p>
          <a:p/>
          <a:p>
            <a:r>
              <a:t>Scale source: README.md, "At 5,000-scheme size", and synalign/data/evaluation/india_schemes/test_scale/report.json. The ~4,600-scheme test catalogue totals 27,593 sections. On the comparable 648 questions naming a target scheme (facts, typos, eligibility), fusion is 78.1% vs 78.7% at 54 schemes. The full mixed-question score is 70.9%, but situation and absent-scheme grading is confounded by relevant background schemes. Background data is unverified and used only for tests; it is not the deployed assistant corpus. No claim of 4,600 verified supported schemes is made here.</a:t>
            </a:r>
          </a:p>
          <a:p/>
          <a:p>
            <a:r>
              <a:t>Safety: among the 36 ineligible cases per language, the current fusion model incorrectly says yes in 12 Hindi cases and 1 English case (13/72 total ineligible cases). Do not conflate this denominator with the report's 10.5% unsafe-yes rate, whose denominator is all 124 eligibility questions. Numeric answer validation is proposed, not built; the implemented response guard checks listed forbidden promises only.</a:t>
            </a:r>
          </a:p>
          <a:p/>
          <a:p>
            <a:r>
              <a:t>Improvement loop: change one thing, evaluate dev, compare paired answers with a scheme-level bootstrap. KEEP only when the entire 95% interval is above zero and unsafe yes does not increase; UNDO if worse or less safe; otherwise no clear difference. Three answer-prompt/repetition-penalty experiments failed this rule and were undone. Retained settings are evaluated on the held-out test questions for reporting. Sources: README.md, "SynAlign: how changes are kept or undone"; scripts/compare_runs.py; dev_round1–3 reports.</a:t>
            </a:r>
          </a:p>
          <a:p/>
          <a:p>
            <a:r>
              <a:t>Next training step: 252 dev-scheme supervised examples are prepared, including English/Hindi eligibility comparisons and no-evidence responses. Four dev schemes are reserved for validation. Training and model conversion are still pending for the current 54-scheme pipeline; earlier LoRA results belong to the older two-scheme demonstration. Also remaining: review the 20 scheme records marked needs_review, human-review language data and grading, and consider a numeric answer check. Sources: README.md, "Where the remaining errors are, and the next lever"; synalign/scripts/make_scheme_training_data.py.</a:t>
            </a:r>
          </a:p>
          <a:p/>
          <a:p>
            <a:r>
              <a:t>Sources are local project files at /Users/vaibhav_joshi/Desktop/cb_harness_loop. This deck summarizes saved measurements and does not claim a fresh evaluation run.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450592" cy="320040"/>
          </a:xfrm>
          <a:prstGeom prst="roundRect">
            <a:avLst>
              <a:gd name="adj" fmla="val 6000"/>
            </a:avLst>
          </a:prstGeom>
          <a:solidFill>
            <a:srgbClr val="E4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27939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2798A"/>
                </a:solidFill>
                <a:latin typeface="Arial"/>
              </a:defRPr>
            </a:pPr>
            <a:r>
              <a:t>CURRENT BUILD  · 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110916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4222E"/>
                </a:solidFill>
                <a:latin typeface="Arial"/>
              </a:defRPr>
            </a:pPr>
            <a:r>
              <a:t>A local scheme assistant with a built-in test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53896"/>
            <a:ext cx="1109167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B6573"/>
                </a:solidFill>
                <a:latin typeface="Arial"/>
              </a:defRPr>
            </a:pPr>
            <a:r>
              <a:t>Find the evidence, answer in the user’s language, and measure every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5B6573"/>
                </a:solidFill>
                <a:latin typeface="Arial"/>
              </a:defRPr>
            </a:pPr>
            <a:r>
              <a:t>TRACE = SYNALIGN  •  Current implementation and saved evaluations  •  Sources and methodology in speaker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2798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6543"/>
            <a:ext cx="2697480" cy="2852928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66543"/>
            <a:ext cx="2697480" cy="41148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46704" y="2066543"/>
            <a:ext cx="2697480" cy="2852928"/>
          </a:xfrm>
          <a:prstGeom prst="roundRect">
            <a:avLst>
              <a:gd name="adj" fmla="val 6000"/>
            </a:avLst>
          </a:prstGeom>
          <a:solidFill>
            <a:srgbClr val="E4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2066543"/>
            <a:ext cx="2697480" cy="41148"/>
          </a:xfrm>
          <a:prstGeom prst="rect">
            <a:avLst/>
          </a:prstGeom>
          <a:solidFill>
            <a:srgbClr val="1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44768" y="2066543"/>
            <a:ext cx="2697480" cy="2852928"/>
          </a:xfrm>
          <a:prstGeom prst="roundRect">
            <a:avLst>
              <a:gd name="adj" fmla="val 6000"/>
            </a:avLst>
          </a:prstGeom>
          <a:solidFill>
            <a:srgbClr val="E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2066543"/>
            <a:ext cx="2697480" cy="41148"/>
          </a:xfrm>
          <a:prstGeom prst="rect">
            <a:avLst/>
          </a:prstGeom>
          <a:solidFill>
            <a:srgbClr val="1E9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42832" y="2066543"/>
            <a:ext cx="2697480" cy="2852928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42832" y="2066543"/>
            <a:ext cx="2697480" cy="41148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22677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12798A"/>
                </a:solidFill>
                <a:latin typeface="Arial"/>
              </a:defRPr>
            </a:pPr>
            <a:r>
              <a:t>01  SCHEME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26700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4222E"/>
                </a:solidFill>
                <a:latin typeface="Arial"/>
              </a:defRPr>
            </a:pPr>
            <a:r>
              <a:t>54 schemes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31181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4222E"/>
                </a:solidFill>
                <a:latin typeface="Arial"/>
              </a:defRPr>
            </a:pPr>
            <a:r>
              <a:t>286 source sections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621024"/>
            <a:ext cx="23317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0" b="0">
                <a:solidFill>
                  <a:srgbClr val="5B6573"/>
                </a:solidFill>
                <a:latin typeface="Arial"/>
              </a:defRPr>
            </a:pPr>
            <a:r>
              <a:t>Rules, benefits, applications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0" b="0">
                <a:solidFill>
                  <a:srgbClr val="5B6573"/>
                </a:solidFill>
                <a:latin typeface="Arial"/>
              </a:defRPr>
            </a:pPr>
            <a:r>
              <a:t>and required documents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0" b="0">
                <a:solidFill>
                  <a:srgbClr val="5B6573"/>
                </a:solidFill>
                <a:latin typeface="Arial"/>
              </a:defRPr>
            </a:pPr>
            <a:r>
              <a:t>linked to official sources.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608576"/>
            <a:ext cx="23317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9A6412"/>
                </a:solidFill>
                <a:latin typeface="Arial"/>
              </a:defRPr>
            </a:pPr>
            <a:r>
              <a:t>34 verified  ·  20 need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2677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12798A"/>
                </a:solidFill>
                <a:latin typeface="Arial"/>
              </a:defRPr>
            </a:pPr>
            <a:r>
              <a:t>02  HYBRID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688336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4222E"/>
                </a:solidFill>
                <a:latin typeface="Arial"/>
              </a:defRPr>
            </a:pPr>
            <a:r>
              <a:t>Words +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17296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5B6573"/>
                </a:solidFill>
                <a:latin typeface="Arial"/>
              </a:defRPr>
            </a:pPr>
            <a:r>
              <a:t>BM25 + character TF-IDF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50215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1">
                <a:solidFill>
                  <a:srgbClr val="12798A"/>
                </a:solidFill>
                <a:latin typeface="Arial"/>
              </a:defRPr>
            </a:pPr>
            <a:r>
              <a:t>Qwen3-Embedding-0.6B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977639"/>
            <a:ext cx="2331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5B6573"/>
                </a:solidFill>
                <a:latin typeface="Arial"/>
              </a:defRPr>
            </a:pPr>
            <a:r>
              <a:t>Merge rankings; send up to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5B6573"/>
                </a:solidFill>
                <a:latin typeface="Arial"/>
              </a:defRPr>
            </a:pPr>
            <a:r>
              <a:t>3 sections to the model,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5B6573"/>
                </a:solidFill>
                <a:latin typeface="Arial"/>
              </a:defRPr>
            </a:pPr>
            <a:r>
              <a:t>with eligibility rules first.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2677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1E9E72"/>
                </a:solidFill>
                <a:latin typeface="Arial"/>
              </a:defRPr>
            </a:pPr>
            <a:r>
              <a:t>03  LOCAL ANSWER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26700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50" b="1">
                <a:solidFill>
                  <a:srgbClr val="14222E"/>
                </a:solidFill>
                <a:latin typeface="Arial"/>
              </a:defRPr>
            </a:pPr>
            <a:r>
              <a:t>Qwen3.5-0.8B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317296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9E72"/>
                </a:solidFill>
                <a:latin typeface="Arial"/>
              </a:defRPr>
            </a:pPr>
            <a:r>
              <a:t>8-bit GGUF  ·  llama.cpp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3694176"/>
            <a:ext cx="233172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5B6573"/>
                </a:solidFill>
                <a:latin typeface="Arial"/>
              </a:defRPr>
            </a:pPr>
            <a:r>
              <a:t>Writes a 2–4 sentence reply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5B6573"/>
                </a:solidFill>
                <a:latin typeface="Arial"/>
              </a:defRPr>
            </a:pPr>
            <a:r>
              <a:t>from the retrieved evidence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5B6573"/>
                </a:solidFill>
                <a:latin typeface="Arial"/>
              </a:defRPr>
            </a:pPr>
            <a:r>
              <a:t>in English, Hindi or Hinglish.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22677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12798A"/>
                </a:solidFill>
                <a:latin typeface="Arial"/>
              </a:defRPr>
            </a:pPr>
            <a:r>
              <a:t>04  CHECKED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268833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22E"/>
                </a:solidFill>
                <a:latin typeface="Arial"/>
              </a:defRPr>
            </a:pPr>
            <a:r>
              <a:t>Answer + 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236976"/>
            <a:ext cx="233172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5B6573"/>
                </a:solidFill>
                <a:latin typeface="Arial"/>
              </a:defRPr>
            </a:pPr>
            <a:r>
              <a:t>Low evidence → no model 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3831336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0">
                <a:solidFill>
                  <a:srgbClr val="5B6573"/>
                </a:solidFill>
                <a:latin typeface="Arial"/>
              </a:defRPr>
            </a:pPr>
            <a:r>
              <a:t>Listed promises → rules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434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12798A"/>
                </a:solidFill>
                <a:latin typeface="Arial"/>
              </a:defRPr>
            </a:pPr>
            <a:r>
              <a:t>Official links + user feedback</a:t>
            </a:r>
          </a:p>
        </p:txBody>
      </p:sp>
      <p:sp>
        <p:nvSpPr>
          <p:cNvPr id="36" name="Chevron 35"/>
          <p:cNvSpPr/>
          <p:nvPr/>
        </p:nvSpPr>
        <p:spPr>
          <a:xfrm>
            <a:off x="3255264" y="3310128"/>
            <a:ext cx="118872" cy="201168"/>
          </a:xfrm>
          <a:prstGeom prst="chevron">
            <a:avLst/>
          </a:prstGeom>
          <a:solidFill>
            <a:srgbClr val="127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evron 36"/>
          <p:cNvSpPr/>
          <p:nvPr/>
        </p:nvSpPr>
        <p:spPr>
          <a:xfrm>
            <a:off x="6053328" y="3310128"/>
            <a:ext cx="118872" cy="201168"/>
          </a:xfrm>
          <a:prstGeom prst="chevron">
            <a:avLst/>
          </a:prstGeom>
          <a:solidFill>
            <a:srgbClr val="127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evron 37"/>
          <p:cNvSpPr/>
          <p:nvPr/>
        </p:nvSpPr>
        <p:spPr>
          <a:xfrm>
            <a:off x="8851392" y="3310128"/>
            <a:ext cx="118872" cy="201168"/>
          </a:xfrm>
          <a:prstGeom prst="chevron">
            <a:avLst/>
          </a:prstGeom>
          <a:solidFill>
            <a:srgbClr val="127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5230368"/>
            <a:ext cx="2807208" cy="96012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" y="5376672"/>
            <a:ext cx="2459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2798A"/>
                </a:solidFill>
                <a:latin typeface="Arial"/>
              </a:defRPr>
            </a:pPr>
            <a:r>
              <a:t>WEB UI + API  ·  ONE LAPTOP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614416"/>
            <a:ext cx="245973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4222E"/>
                </a:solidFill>
                <a:latin typeface="Arial"/>
              </a:defRPr>
            </a:pPr>
            <a:r>
              <a:t>≈1.3 s per answer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952744"/>
            <a:ext cx="24597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B6573"/>
                </a:solidFill>
                <a:latin typeface="Arial"/>
              </a:defRPr>
            </a:pPr>
            <a:r>
              <a:t>Apple M5, 16 GB  ·  54-scheme test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40" y="523036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4176" y="5376672"/>
            <a:ext cx="3813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2798A"/>
                </a:solidFill>
                <a:latin typeface="Arial"/>
              </a:defRPr>
            </a:pPr>
            <a:r>
              <a:t>AUDIT FOUNDATION  ·  JANSANKHYA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94176" y="5632704"/>
            <a:ext cx="3813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10" b="1">
                <a:solidFill>
                  <a:srgbClr val="14222E"/>
                </a:solidFill>
                <a:latin typeface="Arial"/>
              </a:defRPr>
            </a:pPr>
            <a:r>
              <a:t>10,000 synthetic worker profiles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94176" y="5961888"/>
            <a:ext cx="38130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B6573"/>
                </a:solidFill>
                <a:latin typeface="Arial"/>
              </a:defRPr>
            </a:pPr>
            <a:r>
              <a:t>Available for the earlier profile-based audit.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45552" y="5230368"/>
            <a:ext cx="3794760" cy="960120"/>
          </a:xfrm>
          <a:prstGeom prst="roundRect">
            <a:avLst>
              <a:gd name="adj" fmla="val 6000"/>
            </a:avLst>
          </a:prstGeom>
          <a:solidFill>
            <a:srgbClr val="FB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9288" y="5376672"/>
            <a:ext cx="34472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9A6412"/>
                </a:solidFill>
                <a:latin typeface="Arial"/>
              </a:defRPr>
            </a:pPr>
            <a:r>
              <a:t>CURRENT SAFETY LIMIT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9288" y="5650992"/>
            <a:ext cx="344728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1">
                <a:solidFill>
                  <a:srgbClr val="14222E"/>
                </a:solidFill>
                <a:latin typeface="Arial"/>
              </a:defRPr>
            </a:pPr>
            <a:r>
              <a:t>The guard checks promises; it does not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0" b="1">
                <a:solidFill>
                  <a:srgbClr val="14222E"/>
                </a:solidFill>
                <a:latin typeface="Arial"/>
              </a:defRPr>
            </a:pPr>
            <a:r>
              <a:t>verify numeric eligibility.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3840480" cy="320040"/>
          </a:xfrm>
          <a:prstGeom prst="roundRect">
            <a:avLst>
              <a:gd name="adj" fmla="val 6000"/>
            </a:avLst>
          </a:prstGeom>
          <a:solidFill>
            <a:srgbClr val="E4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27939"/>
            <a:ext cx="3547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2798A"/>
                </a:solidFill>
                <a:latin typeface="Arial"/>
              </a:defRPr>
            </a:pPr>
            <a:r>
              <a:t>EVALUATION  ·  ANALYSIS  · 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77824"/>
            <a:ext cx="110916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50" b="1">
                <a:solidFill>
                  <a:srgbClr val="14222E"/>
                </a:solidFill>
                <a:latin typeface="Arial"/>
              </a:defRPr>
            </a:pPr>
            <a:r>
              <a:t>Search drives the gain; model reasoning is the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53896"/>
            <a:ext cx="1109167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B6573"/>
                </a:solidFill>
                <a:latin typeface="Arial"/>
              </a:defRPr>
            </a:pPr>
            <a:r>
              <a:t>1,080 questions  ·  18 dev schemes (316 questions)  ·  36 held-out schemes (764 questions)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0972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5B6573"/>
                </a:solidFill>
                <a:latin typeface="Arial"/>
              </a:defRPr>
            </a:pPr>
            <a:r>
              <a:t>TRACE = SYNALIGN  •  Current implementation and saved evaluations  •  Sources and methodology in speaker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2798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60807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20" b="1">
                <a:solidFill>
                  <a:srgbClr val="14222E"/>
                </a:solidFill>
                <a:latin typeface="Arial"/>
              </a:defRPr>
            </a:pPr>
            <a:r>
              <a:t>Answer accuracy on 764 held-out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6829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5B6573"/>
                </a:solidFill>
                <a:latin typeface="Arial"/>
              </a:defRPr>
            </a:pPr>
            <a:r>
              <a:t>Same Qwen3.5-0.8B model across all four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2368296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B6573"/>
                </a:solidFill>
                <a:latin typeface="Arial"/>
              </a:defRPr>
            </a:pPr>
            <a:r>
              <a:t>Accuracy (95% CI)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50515"/>
            <a:ext cx="2130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4222E"/>
                </a:solidFill>
                <a:latin typeface="Arial"/>
              </a:defRPr>
            </a:pPr>
            <a:r>
              <a:t>Model alone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9776" y="2774289"/>
            <a:ext cx="2249424" cy="2011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9776" y="2774289"/>
            <a:ext cx="385776" cy="201168"/>
          </a:xfrm>
          <a:prstGeom prst="rect">
            <a:avLst/>
          </a:prstGeom>
          <a:solidFill>
            <a:srgbClr val="A8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2751429"/>
            <a:ext cx="143560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14222E"/>
                </a:solidFill>
                <a:latin typeface="Arial"/>
              </a:defRPr>
            </a:pPr>
            <a:r>
              <a:t>17.2% (13–21)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53435"/>
            <a:ext cx="2130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4222E"/>
                </a:solidFill>
                <a:latin typeface="Arial"/>
              </a:defRPr>
            </a:pPr>
            <a:r>
              <a:t>Old search +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3277209"/>
            <a:ext cx="2249424" cy="2011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79776" y="3277209"/>
            <a:ext cx="1386769" cy="201168"/>
          </a:xfrm>
          <a:prstGeom prst="rect">
            <a:avLst/>
          </a:prstGeom>
          <a:solidFill>
            <a:srgbClr val="A8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3254349"/>
            <a:ext cx="143560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14222E"/>
                </a:solidFill>
                <a:latin typeface="Arial"/>
              </a:defRPr>
            </a:pPr>
            <a:r>
              <a:t>61.7% (56–67)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56355"/>
            <a:ext cx="2130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4222E"/>
                </a:solidFill>
                <a:latin typeface="Arial"/>
              </a:defRPr>
            </a:pPr>
            <a:r>
              <a:t>Meaning search +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9776" y="3780129"/>
            <a:ext cx="2249424" cy="2011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79776" y="3780129"/>
            <a:ext cx="1751851" cy="201168"/>
          </a:xfrm>
          <a:prstGeom prst="rect">
            <a:avLst/>
          </a:prstGeom>
          <a:solidFill>
            <a:srgbClr val="127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5504" y="3757269"/>
            <a:ext cx="143560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10" b="0">
                <a:solidFill>
                  <a:srgbClr val="14222E"/>
                </a:solidFill>
                <a:latin typeface="Arial"/>
              </a:defRPr>
            </a:pPr>
            <a:r>
              <a:t>77.9% (74–82)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59275"/>
            <a:ext cx="2130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4222E"/>
                </a:solidFill>
                <a:latin typeface="Arial"/>
              </a:defRPr>
            </a:pPr>
            <a:r>
              <a:t>Full TRACE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9776" y="4283049"/>
            <a:ext cx="2249424" cy="20116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79776" y="4283049"/>
            <a:ext cx="1719459" cy="201168"/>
          </a:xfrm>
          <a:prstGeom prst="rect">
            <a:avLst/>
          </a:prstGeom>
          <a:solidFill>
            <a:srgbClr val="1E9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5504" y="4260189"/>
            <a:ext cx="143560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10" b="1">
                <a:solidFill>
                  <a:srgbClr val="1E9E72"/>
                </a:solidFill>
                <a:latin typeface="Arial"/>
              </a:defRPr>
            </a:pPr>
            <a:r>
              <a:t>76.4% (72–80)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9776" y="4617720"/>
            <a:ext cx="29260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B6573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4296" y="4617720"/>
            <a:ext cx="3840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B6573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01184"/>
            <a:ext cx="6071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2798A"/>
                </a:solidFill>
                <a:latin typeface="Arial"/>
              </a:defRPr>
            </a:pPr>
            <a:r>
              <a:t>+14.8 points over old search; no clear difference from meaning-only search at this size.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7728" y="1993392"/>
            <a:ext cx="4672584" cy="3236976"/>
          </a:xfrm>
          <a:prstGeom prst="roundRect">
            <a:avLst>
              <a:gd name="adj" fmla="val 6000"/>
            </a:avLst>
          </a:prstGeom>
          <a:solidFill>
            <a:srgbClr val="E4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8" y="2185416"/>
            <a:ext cx="421538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4222E"/>
                </a:solidFill>
                <a:latin typeface="Arial"/>
              </a:defRPr>
            </a:pPr>
            <a:r>
              <a:t>How a change earns its 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8" y="2724912"/>
            <a:ext cx="4215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798A"/>
                </a:solidFill>
                <a:latin typeface="Arial"/>
              </a:defRPr>
            </a:pPr>
            <a:r>
              <a:t>01   Change one thing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8" y="3108960"/>
            <a:ext cx="4215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798A"/>
                </a:solidFill>
                <a:latin typeface="Arial"/>
              </a:defRPr>
            </a:pPr>
            <a:r>
              <a:t>02   Run the 316 dev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6328" y="3511296"/>
            <a:ext cx="4215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798A"/>
                </a:solidFill>
                <a:latin typeface="Arial"/>
              </a:defRPr>
            </a:pPr>
            <a:r>
              <a:t>03   Keep only a measured improvement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840480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4222E"/>
                </a:solidFill>
                <a:latin typeface="Arial"/>
              </a:defRPr>
            </a:pPr>
            <a:r>
              <a:t>95% interval of the gain must be above zero;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70" b="0">
                <a:solidFill>
                  <a:srgbClr val="14222E"/>
                </a:solidFill>
                <a:latin typeface="Arial"/>
              </a:defRPr>
            </a:pPr>
            <a:r>
              <a:t>unsafe “yes” answers must not increase.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4535424"/>
            <a:ext cx="4215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70" b="1">
                <a:solidFill>
                  <a:srgbClr val="12798A"/>
                </a:solidFill>
                <a:latin typeface="Arial"/>
              </a:defRPr>
            </a:pPr>
            <a:r>
              <a:t>04   Evaluate retained settings on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8" y="4928616"/>
            <a:ext cx="421538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30" b="1">
                <a:solidFill>
                  <a:srgbClr val="5B6573"/>
                </a:solidFill>
                <a:latin typeface="Arial"/>
              </a:defRPr>
            </a:pPr>
            <a:r>
              <a:t>3 prompt changes tested → all rejected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468112"/>
            <a:ext cx="5102352" cy="832104"/>
          </a:xfrm>
          <a:prstGeom prst="roundRect">
            <a:avLst>
              <a:gd name="adj" fmla="val 6000"/>
            </a:avLst>
          </a:prstGeom>
          <a:solidFill>
            <a:srgbClr val="E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" y="5577840"/>
            <a:ext cx="47457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1E9E72"/>
                </a:solidFill>
                <a:latin typeface="Arial"/>
              </a:defRPr>
            </a:pPr>
            <a:r>
              <a:t>SCALE CHECK  ·  TEST-ONLY CATALOGUE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797296"/>
            <a:ext cx="4745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4222E"/>
                </a:solidFill>
                <a:latin typeface="Arial"/>
              </a:defRPr>
            </a:pPr>
            <a:r>
              <a:t>78.1% correct among ~4,600 schemes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6071616"/>
            <a:ext cx="4745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B6573"/>
                </a:solidFill>
                <a:latin typeface="Arial"/>
              </a:defRPr>
            </a:pPr>
            <a:r>
              <a:t>648 named-scheme questions; 78.7% at 54 schemes.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15584" y="5468112"/>
            <a:ext cx="5824728" cy="832104"/>
          </a:xfrm>
          <a:prstGeom prst="roundRect">
            <a:avLst>
              <a:gd name="adj" fmla="val 6000"/>
            </a:avLst>
          </a:prstGeom>
          <a:solidFill>
            <a:srgbClr val="FB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5577840"/>
            <a:ext cx="54772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9A6412"/>
                </a:solidFill>
                <a:latin typeface="Arial"/>
              </a:defRPr>
            </a:pPr>
            <a:r>
              <a:t>NEXT: ELIGIBILITY REASONING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5797296"/>
            <a:ext cx="547725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4222E"/>
                </a:solidFill>
                <a:latin typeface="Arial"/>
              </a:defRPr>
            </a:pPr>
            <a:r>
              <a:t>Wrong “yes”: Hindi 12/36  ·  English 1/36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6071616"/>
            <a:ext cx="5477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5B6573"/>
                </a:solidFill>
                <a:latin typeface="Arial"/>
              </a:defRPr>
            </a:pPr>
            <a:r>
              <a:t>Among ineligible cases. 252 fine-tuning examples ready; training pending.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 — Current System and Evaluation</dc:title>
  <dc:subject>Two-slide overview of the current SYNALIGN build, presented as TRACE</dc:subject>
  <dc:creator/>
  <cp:keywords>TRACE, SYNALIGN, scheme assistant, local models, evaluation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